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3672116008-2"/>
          <p:cNvSpPr/>
          <p:nvPr/>
        </p:nvSpPr>
        <p:spPr>
          <a:xfrm>
            <a:off x="7858125" y="0"/>
            <a:ext cx="1285875" cy="12858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90985"/>
                </a:moveTo>
                <a:lnTo>
                  <a:pt x="98096" y="92126"/>
                </a:lnTo>
                <a:lnTo>
                  <a:pt x="92178" y="94926"/>
                </a:lnTo>
                <a:lnTo>
                  <a:pt x="86022" y="97126"/>
                </a:lnTo>
                <a:lnTo>
                  <a:pt x="79674" y="98719"/>
                </a:lnTo>
                <a:lnTo>
                  <a:pt x="73200" y="99681"/>
                </a:lnTo>
                <a:lnTo>
                  <a:pt x="66667" y="100000"/>
                </a:lnTo>
                <a:lnTo>
                  <a:pt x="60133" y="99681"/>
                </a:lnTo>
                <a:lnTo>
                  <a:pt x="53659" y="98719"/>
                </a:lnTo>
                <a:lnTo>
                  <a:pt x="47311" y="97126"/>
                </a:lnTo>
                <a:lnTo>
                  <a:pt x="41156" y="94926"/>
                </a:lnTo>
                <a:lnTo>
                  <a:pt x="35237" y="92126"/>
                </a:lnTo>
                <a:lnTo>
                  <a:pt x="29630" y="88763"/>
                </a:lnTo>
                <a:lnTo>
                  <a:pt x="24370" y="84867"/>
                </a:lnTo>
                <a:lnTo>
                  <a:pt x="19526" y="80474"/>
                </a:lnTo>
                <a:lnTo>
                  <a:pt x="15133" y="75630"/>
                </a:lnTo>
                <a:lnTo>
                  <a:pt x="11237" y="70370"/>
                </a:lnTo>
                <a:lnTo>
                  <a:pt x="7874" y="64763"/>
                </a:lnTo>
                <a:lnTo>
                  <a:pt x="5074" y="58844"/>
                </a:lnTo>
                <a:lnTo>
                  <a:pt x="2874" y="52689"/>
                </a:lnTo>
                <a:lnTo>
                  <a:pt x="1281" y="46341"/>
                </a:lnTo>
                <a:lnTo>
                  <a:pt x="319" y="39867"/>
                </a:lnTo>
                <a:lnTo>
                  <a:pt x="0" y="33333"/>
                </a:lnTo>
                <a:lnTo>
                  <a:pt x="319" y="26800"/>
                </a:lnTo>
                <a:lnTo>
                  <a:pt x="1281" y="20326"/>
                </a:lnTo>
                <a:lnTo>
                  <a:pt x="2874" y="13978"/>
                </a:lnTo>
                <a:lnTo>
                  <a:pt x="5074" y="7822"/>
                </a:lnTo>
                <a:lnTo>
                  <a:pt x="7874" y="1904"/>
                </a:lnTo>
                <a:lnTo>
                  <a:pt x="9015" y="0"/>
                </a:lnTo>
                <a:lnTo>
                  <a:pt x="100000" y="0"/>
                </a:lnTo>
                <a:close/>
              </a:path>
            </a:pathLst>
          </a:custGeom>
          <a:solidFill>
            <a:srgbClr val="F1F5F9">
              <a:alpha val="5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3672116008-3"/>
          <p:cNvSpPr/>
          <p:nvPr/>
        </p:nvSpPr>
        <p:spPr>
          <a:xfrm>
            <a:off x="285750" y="4000500"/>
            <a:ext cx="857250" cy="857250"/>
          </a:xfrm>
          <a:prstGeom prst="ellipse">
            <a:avLst/>
          </a:prstGeom>
          <a:solidFill>
            <a:srgbClr val="F1F5F9">
              <a:alpha val="5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3672116017-21"/>
          <p:cNvSpPr/>
          <p:nvPr/>
        </p:nvSpPr>
        <p:spPr>
          <a:xfrm>
            <a:off x="0" y="0"/>
            <a:ext cx="28575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3672116018-22"/>
          <p:cNvSpPr/>
          <p:nvPr/>
        </p:nvSpPr>
        <p:spPr>
          <a:xfrm>
            <a:off x="28575" y="0"/>
            <a:ext cx="9115425" cy="71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3672116003-1"/>
          <p:cNvSpPr txBox="1"/>
          <p:nvPr/>
        </p:nvSpPr>
        <p:spPr>
          <a:xfrm>
            <a:off x="7781181" y="4872038"/>
            <a:ext cx="1012775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56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答辩汇报 ——</a:t>
            </a:r>
            <a:endParaRPr sz="780" spc="56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el-1783672116011-6"/>
          <p:cNvCxnSpPr/>
          <p:nvPr/>
        </p:nvCxnSpPr>
        <p:spPr>
          <a:xfrm>
            <a:off x="607219" y="2424559"/>
            <a:ext cx="914" cy="1285875"/>
          </a:xfrm>
          <a:prstGeom prst="line">
            <a:avLst/>
          </a:prstGeom>
          <a:ln w="14288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3672116011-7"/>
          <p:cNvCxnSpPr/>
          <p:nvPr/>
        </p:nvCxnSpPr>
        <p:spPr>
          <a:xfrm>
            <a:off x="4764881" y="2424559"/>
            <a:ext cx="914" cy="1000125"/>
          </a:xfrm>
          <a:prstGeom prst="line">
            <a:avLst/>
          </a:prstGeom>
          <a:ln w="14288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3672116009-4"/>
          <p:cNvSpPr txBox="1"/>
          <p:nvPr/>
        </p:nvSpPr>
        <p:spPr>
          <a:xfrm>
            <a:off x="1681832" y="1433066"/>
            <a:ext cx="5808836" cy="37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2470" b="1" spc="113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 JavaFX GUI 客户端</a:t>
            </a:r>
            <a:endParaRPr sz="2470" b="1" spc="113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3672116010-5"/>
          <p:cNvSpPr txBox="1"/>
          <p:nvPr/>
        </p:nvSpPr>
        <p:spPr>
          <a:xfrm>
            <a:off x="1498030" y="1953072"/>
            <a:ext cx="6176442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JavaFX 21 的现代化桌面聊天客户端，支持房间群聊、好友私聊、文件传输与在线文档预览</a:t>
            </a:r>
            <a:endParaRPr sz="112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3672116014-11"/>
          <p:cNvSpPr txBox="1"/>
          <p:nvPr/>
        </p:nvSpPr>
        <p:spPr>
          <a:xfrm>
            <a:off x="671513" y="2424559"/>
            <a:ext cx="47148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吕林涵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3672116014-12"/>
          <p:cNvSpPr txBox="1"/>
          <p:nvPr/>
        </p:nvSpPr>
        <p:spPr>
          <a:xfrm>
            <a:off x="1157288" y="2424559"/>
            <a:ext cx="1405012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架构设计 + 集成联调</a:t>
            </a:r>
            <a:endParaRPr sz="112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3672116014-13"/>
          <p:cNvSpPr txBox="1"/>
          <p:nvPr/>
        </p:nvSpPr>
        <p:spPr>
          <a:xfrm>
            <a:off x="671513" y="2696022"/>
            <a:ext cx="47148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孔德桥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3672116014-14"/>
          <p:cNvSpPr txBox="1"/>
          <p:nvPr/>
        </p:nvSpPr>
        <p:spPr>
          <a:xfrm>
            <a:off x="1157288" y="2696022"/>
            <a:ext cx="1405012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连接管理 + 用户认证</a:t>
            </a:r>
            <a:endParaRPr sz="112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3672116014-15"/>
          <p:cNvSpPr txBox="1"/>
          <p:nvPr/>
        </p:nvSpPr>
        <p:spPr>
          <a:xfrm>
            <a:off x="671513" y="2967484"/>
            <a:ext cx="47148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康佳兆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3672116015-16"/>
          <p:cNvSpPr txBox="1"/>
          <p:nvPr/>
        </p:nvSpPr>
        <p:spPr>
          <a:xfrm>
            <a:off x="1157288" y="2967484"/>
            <a:ext cx="1405012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房间管理 + 消息系统</a:t>
            </a:r>
            <a:endParaRPr sz="112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3672116015-17"/>
          <p:cNvSpPr txBox="1"/>
          <p:nvPr/>
        </p:nvSpPr>
        <p:spPr>
          <a:xfrm>
            <a:off x="671513" y="3238947"/>
            <a:ext cx="47148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毛嘉文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3672116015-18"/>
          <p:cNvSpPr txBox="1"/>
          <p:nvPr/>
        </p:nvSpPr>
        <p:spPr>
          <a:xfrm>
            <a:off x="1157288" y="3238947"/>
            <a:ext cx="1405012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好友系统 + 文件处理</a:t>
            </a:r>
            <a:endParaRPr sz="112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3672116015-19"/>
          <p:cNvSpPr txBox="1"/>
          <p:nvPr/>
        </p:nvSpPr>
        <p:spPr>
          <a:xfrm>
            <a:off x="671513" y="3510409"/>
            <a:ext cx="471488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吕林涵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3672116015-20"/>
          <p:cNvSpPr txBox="1"/>
          <p:nvPr/>
        </p:nvSpPr>
        <p:spPr>
          <a:xfrm>
            <a:off x="1157288" y="3510409"/>
            <a:ext cx="1262137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3341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本地存储 + 协议层</a:t>
            </a:r>
            <a:endParaRPr sz="1120">
              <a:solidFill>
                <a:srgbClr val="3341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3672116012-8"/>
          <p:cNvSpPr txBox="1"/>
          <p:nvPr/>
        </p:nvSpPr>
        <p:spPr>
          <a:xfrm>
            <a:off x="4857750" y="2556718"/>
            <a:ext cx="378618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sz="112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学校</a:t>
            </a:r>
            <a:r>
              <a:rPr sz="112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r>
              <a:rPr lang="en-US" altLang="" sz="1120" u="sng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20" u="sng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应急管理大学</a:t>
            </a:r>
            <a:endParaRPr sz="1120" u="sng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3672116012-9"/>
          <p:cNvSpPr txBox="1"/>
          <p:nvPr/>
        </p:nvSpPr>
        <p:spPr>
          <a:xfrm>
            <a:off x="4857750" y="2828181"/>
            <a:ext cx="378618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班级</a:t>
            </a:r>
            <a:r>
              <a:rPr sz="112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r>
              <a:rPr lang="en-US" altLang="" sz="112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" sz="1120" u="sng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20" u="sng" strike="noStrike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</a:t>
            </a:r>
            <a:r>
              <a:rPr lang="en-US" altLang="zh-CN" sz="1120" u="sng" strike="noStrike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B24</a:t>
            </a:r>
            <a:r>
              <a:rPr lang="en-US" altLang="zh-CN" sz="1120" u="sng" strike="noStrike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        </a:t>
            </a:r>
            <a:r>
              <a:rPr lang="en-US" altLang="zh-CN" sz="1120" u="sng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1120" u="sng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3672116012-10"/>
          <p:cNvSpPr txBox="1"/>
          <p:nvPr/>
        </p:nvSpPr>
        <p:spPr>
          <a:xfrm>
            <a:off x="4857750" y="3099643"/>
            <a:ext cx="3779044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7 月 10 日</a:t>
            </a:r>
            <a:endParaRPr sz="101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3672116025-2"/>
          <p:cNvSpPr/>
          <p:nvPr/>
        </p:nvSpPr>
        <p:spPr>
          <a:xfrm>
            <a:off x="285750" y="857250"/>
            <a:ext cx="28575" cy="1143000"/>
          </a:xfrm>
          <a:prstGeom prst="roundRect">
            <a:avLst>
              <a:gd name="adj" fmla="val 50000"/>
            </a:avLst>
          </a:prstGeom>
          <a:solidFill>
            <a:srgbClr val="2563EB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3672116026-3"/>
          <p:cNvSpPr/>
          <p:nvPr/>
        </p:nvSpPr>
        <p:spPr>
          <a:xfrm>
            <a:off x="8779669" y="4257675"/>
            <a:ext cx="21431" cy="4572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95313"/>
                </a:lnTo>
                <a:close/>
              </a:path>
            </a:pathLst>
          </a:custGeom>
          <a:solidFill>
            <a:srgbClr val="E2E8F0">
              <a:alpha val="5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3672116026-4"/>
          <p:cNvSpPr/>
          <p:nvPr/>
        </p:nvSpPr>
        <p:spPr>
          <a:xfrm>
            <a:off x="8343900" y="4693444"/>
            <a:ext cx="457200" cy="214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5313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2E8F0">
              <a:alpha val="5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3672116029-9"/>
          <p:cNvSpPr/>
          <p:nvPr/>
        </p:nvSpPr>
        <p:spPr>
          <a:xfrm>
            <a:off x="4314825" y="2910036"/>
            <a:ext cx="514350" cy="21431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3672116027-6"/>
          <p:cNvSpPr txBox="1"/>
          <p:nvPr/>
        </p:nvSpPr>
        <p:spPr>
          <a:xfrm>
            <a:off x="4317653" y="1892871"/>
            <a:ext cx="680145" cy="37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700" b="1" spc="338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700" b="1" spc="338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3672116027-7"/>
          <p:cNvSpPr txBox="1"/>
          <p:nvPr/>
        </p:nvSpPr>
        <p:spPr>
          <a:xfrm>
            <a:off x="3721894" y="2412876"/>
            <a:ext cx="1814513" cy="2971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 spc="113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项目总览与架构</a:t>
            </a:r>
            <a:endParaRPr sz="1800" b="1" spc="113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3672116028-8"/>
          <p:cNvSpPr txBox="1"/>
          <p:nvPr/>
        </p:nvSpPr>
        <p:spPr>
          <a:xfrm>
            <a:off x="3725019" y="3674418"/>
            <a:ext cx="1751112" cy="1476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spc="56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 · 系统设计总览</a:t>
            </a:r>
            <a:endParaRPr sz="900" spc="56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3672116030-14"/>
          <p:cNvSpPr/>
          <p:nvPr/>
        </p:nvSpPr>
        <p:spPr>
          <a:xfrm>
            <a:off x="3611166" y="3302943"/>
            <a:ext cx="7144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3672116030-15"/>
          <p:cNvSpPr/>
          <p:nvPr/>
        </p:nvSpPr>
        <p:spPr>
          <a:xfrm>
            <a:off x="4496991" y="3302943"/>
            <a:ext cx="7144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3672116030-16"/>
          <p:cNvSpPr/>
          <p:nvPr/>
        </p:nvSpPr>
        <p:spPr>
          <a:xfrm>
            <a:off x="5518547" y="3302943"/>
            <a:ext cx="7144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3672116029-10"/>
          <p:cNvSpPr txBox="1"/>
          <p:nvPr/>
        </p:nvSpPr>
        <p:spPr>
          <a:xfrm>
            <a:off x="2903934" y="3274368"/>
            <a:ext cx="60721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56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项目概述</a:t>
            </a:r>
            <a:endParaRPr sz="1010" spc="56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3672116029-11"/>
          <p:cNvSpPr txBox="1"/>
          <p:nvPr/>
        </p:nvSpPr>
        <p:spPr>
          <a:xfrm>
            <a:off x="3789759" y="3274368"/>
            <a:ext cx="60721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56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技术架构</a:t>
            </a:r>
            <a:endParaRPr sz="1010" spc="56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3672116029-12"/>
          <p:cNvSpPr txBox="1"/>
          <p:nvPr/>
        </p:nvSpPr>
        <p:spPr>
          <a:xfrm>
            <a:off x="4675584" y="3274368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56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</a:t>
            </a:r>
            <a:endParaRPr sz="1010" spc="56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3672116029-13"/>
          <p:cNvSpPr txBox="1"/>
          <p:nvPr/>
        </p:nvSpPr>
        <p:spPr>
          <a:xfrm>
            <a:off x="5697141" y="3274368"/>
            <a:ext cx="60721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56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契约设计</a:t>
            </a:r>
            <a:endParaRPr sz="1010" spc="56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3672116024-1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E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3672116026-5"/>
          <p:cNvSpPr/>
          <p:nvPr/>
        </p:nvSpPr>
        <p:spPr>
          <a:xfrm>
            <a:off x="7600950" y="278606"/>
            <a:ext cx="1143000" cy="14288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3672116223-2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3672116224-3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3672116225-4"/>
          <p:cNvSpPr txBox="1"/>
          <p:nvPr/>
        </p:nvSpPr>
        <p:spPr>
          <a:xfrm>
            <a:off x="400050" y="103584"/>
            <a:ext cx="914400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项目概述</a:t>
            </a:r>
            <a:endParaRPr sz="1570" b="1" spc="28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3672116225-5"/>
          <p:cNvSpPr txBox="1"/>
          <p:nvPr/>
        </p:nvSpPr>
        <p:spPr>
          <a:xfrm>
            <a:off x="8359304" y="167878"/>
            <a:ext cx="44179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16</a:t>
            </a:r>
            <a:endParaRPr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3672116227-8"/>
          <p:cNvSpPr txBox="1"/>
          <p:nvPr/>
        </p:nvSpPr>
        <p:spPr>
          <a:xfrm>
            <a:off x="400050" y="4900613"/>
            <a:ext cx="120096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 · 项目概述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3672116227-9"/>
          <p:cNvSpPr txBox="1"/>
          <p:nvPr/>
        </p:nvSpPr>
        <p:spPr>
          <a:xfrm>
            <a:off x="1722462" y="4900613"/>
            <a:ext cx="769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3672116227-10"/>
          <p:cNvSpPr txBox="1"/>
          <p:nvPr/>
        </p:nvSpPr>
        <p:spPr>
          <a:xfrm>
            <a:off x="1920850" y="4900613"/>
            <a:ext cx="567407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2026.07.10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3672116227-11"/>
          <p:cNvSpPr txBox="1"/>
          <p:nvPr/>
        </p:nvSpPr>
        <p:spPr>
          <a:xfrm>
            <a:off x="7860581" y="4910138"/>
            <a:ext cx="933376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学术答辩 · 严谨求实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3672116223-1"/>
          <p:cNvSpPr txBox="1"/>
          <p:nvPr/>
        </p:nvSpPr>
        <p:spPr>
          <a:xfrm>
            <a:off x="7743751" y="4143375"/>
            <a:ext cx="1400249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50" b="1" spc="225">
                <a:solidFill>
                  <a:srgbClr val="2563EB">
                    <a:alpha val="4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6750" b="1" spc="225">
              <a:solidFill>
                <a:srgbClr val="2563EB">
                  <a:alpha val="4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3672116226-6"/>
          <p:cNvSpPr/>
          <p:nvPr/>
        </p:nvSpPr>
        <p:spPr>
          <a:xfrm>
            <a:off x="400050" y="2580531"/>
            <a:ext cx="8343900" cy="12465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3672116226-7"/>
          <p:cNvCxnSpPr/>
          <p:nvPr/>
        </p:nvCxnSpPr>
        <p:spPr>
          <a:xfrm>
            <a:off x="414338" y="2580531"/>
            <a:ext cx="914" cy="1246584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3672116228-13"/>
          <p:cNvCxnSpPr/>
          <p:nvPr/>
        </p:nvCxnSpPr>
        <p:spPr>
          <a:xfrm>
            <a:off x="414338" y="1487760"/>
            <a:ext cx="914" cy="892746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3672116228-14"/>
          <p:cNvCxnSpPr/>
          <p:nvPr/>
        </p:nvCxnSpPr>
        <p:spPr>
          <a:xfrm>
            <a:off x="3262313" y="1487760"/>
            <a:ext cx="914" cy="892746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3672116228-15"/>
          <p:cNvCxnSpPr/>
          <p:nvPr/>
        </p:nvCxnSpPr>
        <p:spPr>
          <a:xfrm>
            <a:off x="6110288" y="1487760"/>
            <a:ext cx="914" cy="892746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3672116235-28"/>
          <p:cNvSpPr/>
          <p:nvPr/>
        </p:nvSpPr>
        <p:spPr>
          <a:xfrm>
            <a:off x="1049834" y="3064520"/>
            <a:ext cx="257175" cy="2571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3672116236-31"/>
          <p:cNvSpPr/>
          <p:nvPr/>
        </p:nvSpPr>
        <p:spPr>
          <a:xfrm>
            <a:off x="2410123" y="3134172"/>
            <a:ext cx="257175" cy="2571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3672116237-34"/>
          <p:cNvSpPr/>
          <p:nvPr/>
        </p:nvSpPr>
        <p:spPr>
          <a:xfrm>
            <a:off x="3770412" y="3064520"/>
            <a:ext cx="257175" cy="2571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3672116238-37"/>
          <p:cNvSpPr/>
          <p:nvPr/>
        </p:nvSpPr>
        <p:spPr>
          <a:xfrm>
            <a:off x="5130701" y="3064520"/>
            <a:ext cx="257175" cy="2571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3672116238-40"/>
          <p:cNvSpPr/>
          <p:nvPr/>
        </p:nvSpPr>
        <p:spPr>
          <a:xfrm>
            <a:off x="6490990" y="3064520"/>
            <a:ext cx="257175" cy="2571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3672116239-43"/>
          <p:cNvSpPr/>
          <p:nvPr/>
        </p:nvSpPr>
        <p:spPr>
          <a:xfrm>
            <a:off x="7851279" y="2994869"/>
            <a:ext cx="257175" cy="25717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3672116230-16"/>
          <p:cNvSpPr txBox="1"/>
          <p:nvPr/>
        </p:nvSpPr>
        <p:spPr>
          <a:xfrm>
            <a:off x="557213" y="1487760"/>
            <a:ext cx="2569369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📌 做什么</a:t>
            </a:r>
            <a:endParaRPr sz="123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3672116234-24"/>
          <p:cNvSpPr txBox="1"/>
          <p:nvPr/>
        </p:nvSpPr>
        <p:spPr>
          <a:xfrm>
            <a:off x="557213" y="1763464"/>
            <a:ext cx="2490788" cy="6170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</a:t>
            </a:r>
            <a:r>
              <a:rPr sz="1010" b="1" spc="1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JavaFX 21</a:t>
            </a: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的桌面聊天客户端，支持房间群聊、好友私聊、文件传输与在线文档预览。</a:t>
            </a:r>
            <a:endParaRPr sz="1010" spc="1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3672116230-17"/>
          <p:cNvSpPr txBox="1"/>
          <p:nvPr/>
        </p:nvSpPr>
        <p:spPr>
          <a:xfrm>
            <a:off x="3405188" y="1487760"/>
            <a:ext cx="2569369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👥 给谁用</a:t>
            </a:r>
            <a:endParaRPr sz="123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3672116234-25"/>
          <p:cNvSpPr txBox="1"/>
          <p:nvPr/>
        </p:nvSpPr>
        <p:spPr>
          <a:xfrm>
            <a:off x="3405188" y="1763464"/>
            <a:ext cx="2490788" cy="6170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团队协作与社交聊天用户 · 偏好现代化界面的桌面用户 · 需要文件传输和文档预览的专业用户</a:t>
            </a:r>
            <a:endParaRPr sz="1010" spc="1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3672116230-18"/>
          <p:cNvSpPr txBox="1"/>
          <p:nvPr/>
        </p:nvSpPr>
        <p:spPr>
          <a:xfrm>
            <a:off x="6253163" y="1487760"/>
            <a:ext cx="2569369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🎯 为什么选这个题</a:t>
            </a:r>
            <a:endParaRPr sz="123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3672116234-26"/>
          <p:cNvSpPr txBox="1"/>
          <p:nvPr/>
        </p:nvSpPr>
        <p:spPr>
          <a:xfrm>
            <a:off x="6253163" y="1763464"/>
            <a:ext cx="2490788" cy="6170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团队对聊天业务场景最熟悉，需求分析清晰、审查判断有依据，可充分展示 AI Agent 协作方法。</a:t>
            </a:r>
            <a:endParaRPr sz="1010" spc="1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3672116227-12"/>
          <p:cNvSpPr txBox="1"/>
          <p:nvPr/>
        </p:nvSpPr>
        <p:spPr>
          <a:xfrm>
            <a:off x="585788" y="2709119"/>
            <a:ext cx="8058150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核心业务闭环</a:t>
            </a:r>
            <a:endParaRPr sz="112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3672116234-27"/>
          <p:cNvSpPr txBox="1"/>
          <p:nvPr/>
        </p:nvSpPr>
        <p:spPr>
          <a:xfrm>
            <a:off x="992684" y="3116907"/>
            <a:ext cx="371475" cy="1476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3672116235-29"/>
          <p:cNvSpPr txBox="1"/>
          <p:nvPr/>
        </p:nvSpPr>
        <p:spPr>
          <a:xfrm>
            <a:off x="856952" y="3350270"/>
            <a:ext cx="642938" cy="2786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09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客户端连接服务器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3672116230-19"/>
          <p:cNvSpPr txBox="1"/>
          <p:nvPr/>
        </p:nvSpPr>
        <p:spPr>
          <a:xfrm>
            <a:off x="1785342" y="3228826"/>
            <a:ext cx="225028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3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3672116235-30"/>
          <p:cNvSpPr txBox="1"/>
          <p:nvPr/>
        </p:nvSpPr>
        <p:spPr>
          <a:xfrm>
            <a:off x="2352973" y="3186559"/>
            <a:ext cx="371475" cy="1476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3672116236-32"/>
          <p:cNvSpPr txBox="1"/>
          <p:nvPr/>
        </p:nvSpPr>
        <p:spPr>
          <a:xfrm>
            <a:off x="2270820" y="3419922"/>
            <a:ext cx="535781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身份认证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3672116231-20"/>
          <p:cNvSpPr txBox="1"/>
          <p:nvPr/>
        </p:nvSpPr>
        <p:spPr>
          <a:xfrm>
            <a:off x="3145631" y="3228826"/>
            <a:ext cx="225028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3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3672116236-33"/>
          <p:cNvSpPr txBox="1"/>
          <p:nvPr/>
        </p:nvSpPr>
        <p:spPr>
          <a:xfrm>
            <a:off x="3713262" y="3116907"/>
            <a:ext cx="371475" cy="1476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3672116237-35"/>
          <p:cNvSpPr txBox="1"/>
          <p:nvPr/>
        </p:nvSpPr>
        <p:spPr>
          <a:xfrm>
            <a:off x="3577531" y="3350270"/>
            <a:ext cx="642938" cy="2786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09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加入房间 / 添加好友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3672116231-21"/>
          <p:cNvSpPr txBox="1"/>
          <p:nvPr/>
        </p:nvSpPr>
        <p:spPr>
          <a:xfrm>
            <a:off x="4505920" y="3228826"/>
            <a:ext cx="225028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3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3672116237-36"/>
          <p:cNvSpPr txBox="1"/>
          <p:nvPr/>
        </p:nvSpPr>
        <p:spPr>
          <a:xfrm>
            <a:off x="5073551" y="3116907"/>
            <a:ext cx="371475" cy="1476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3672116238-38"/>
          <p:cNvSpPr txBox="1"/>
          <p:nvPr/>
        </p:nvSpPr>
        <p:spPr>
          <a:xfrm>
            <a:off x="4937820" y="3350270"/>
            <a:ext cx="642938" cy="2786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09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 / 图片 / 文件消息交互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3672116231-22"/>
          <p:cNvSpPr txBox="1"/>
          <p:nvPr/>
        </p:nvSpPr>
        <p:spPr>
          <a:xfrm>
            <a:off x="5866210" y="3228826"/>
            <a:ext cx="225028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3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3672116238-39"/>
          <p:cNvSpPr txBox="1"/>
          <p:nvPr/>
        </p:nvSpPr>
        <p:spPr>
          <a:xfrm>
            <a:off x="6433840" y="3116907"/>
            <a:ext cx="371475" cy="1476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3672116238-41"/>
          <p:cNvSpPr txBox="1"/>
          <p:nvPr/>
        </p:nvSpPr>
        <p:spPr>
          <a:xfrm>
            <a:off x="6298109" y="3350270"/>
            <a:ext cx="642938" cy="2786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09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本地缓存离线查看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3672116231-23"/>
          <p:cNvSpPr txBox="1"/>
          <p:nvPr/>
        </p:nvSpPr>
        <p:spPr>
          <a:xfrm>
            <a:off x="7226499" y="3228826"/>
            <a:ext cx="225028" cy="2357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23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3672116239-42"/>
          <p:cNvSpPr txBox="1"/>
          <p:nvPr/>
        </p:nvSpPr>
        <p:spPr>
          <a:xfrm>
            <a:off x="7794129" y="3047256"/>
            <a:ext cx="371475" cy="1476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3672116239-44"/>
          <p:cNvSpPr txBox="1"/>
          <p:nvPr/>
        </p:nvSpPr>
        <p:spPr>
          <a:xfrm>
            <a:off x="7658398" y="3280619"/>
            <a:ext cx="642938" cy="4179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09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ZFile 存储 + OnlyOffice 在线预览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3672116340-2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3672116340-3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3672116341-4"/>
          <p:cNvSpPr txBox="1"/>
          <p:nvPr/>
        </p:nvSpPr>
        <p:spPr>
          <a:xfrm>
            <a:off x="400050" y="103584"/>
            <a:ext cx="1932384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技术架构与分工总览</a:t>
            </a:r>
            <a:endParaRPr sz="1570" b="1" spc="28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3672116341-5"/>
          <p:cNvSpPr txBox="1"/>
          <p:nvPr/>
        </p:nvSpPr>
        <p:spPr>
          <a:xfrm>
            <a:off x="8359304" y="167878"/>
            <a:ext cx="44179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16</a:t>
            </a:r>
            <a:endParaRPr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3672116344-6"/>
          <p:cNvSpPr txBox="1"/>
          <p:nvPr/>
        </p:nvSpPr>
        <p:spPr>
          <a:xfrm>
            <a:off x="400050" y="4900613"/>
            <a:ext cx="120096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 · 技术架构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3672116344-7"/>
          <p:cNvSpPr txBox="1"/>
          <p:nvPr/>
        </p:nvSpPr>
        <p:spPr>
          <a:xfrm>
            <a:off x="1722462" y="4900613"/>
            <a:ext cx="769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3672116344-8"/>
          <p:cNvSpPr txBox="1"/>
          <p:nvPr/>
        </p:nvSpPr>
        <p:spPr>
          <a:xfrm>
            <a:off x="1920850" y="4900613"/>
            <a:ext cx="567407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2026.07.10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3672116344-9"/>
          <p:cNvSpPr txBox="1"/>
          <p:nvPr/>
        </p:nvSpPr>
        <p:spPr>
          <a:xfrm>
            <a:off x="7860581" y="4910138"/>
            <a:ext cx="933376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学术答辩 · 严谨求实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3672116339-1"/>
          <p:cNvSpPr txBox="1"/>
          <p:nvPr/>
        </p:nvSpPr>
        <p:spPr>
          <a:xfrm>
            <a:off x="7743751" y="4143375"/>
            <a:ext cx="1400249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50" b="1" spc="225">
                <a:solidFill>
                  <a:srgbClr val="2563EB">
                    <a:alpha val="4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6750" b="1" spc="225">
              <a:solidFill>
                <a:srgbClr val="2563EB">
                  <a:alpha val="4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3672116345-10"/>
          <p:cNvSpPr/>
          <p:nvPr/>
        </p:nvSpPr>
        <p:spPr>
          <a:xfrm>
            <a:off x="400050" y="1375172"/>
            <a:ext cx="4029075" cy="25646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3672116346-13"/>
          <p:cNvCxnSpPr/>
          <p:nvPr/>
        </p:nvCxnSpPr>
        <p:spPr>
          <a:xfrm>
            <a:off x="414338" y="1375172"/>
            <a:ext cx="914" cy="2564606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3672116371-74"/>
          <p:cNvSpPr/>
          <p:nvPr/>
        </p:nvSpPr>
        <p:spPr>
          <a:xfrm>
            <a:off x="1185863" y="1753791"/>
            <a:ext cx="507727" cy="185738"/>
          </a:xfrm>
          <a:prstGeom prst="roundRect">
            <a:avLst>
              <a:gd name="adj" fmla="val 20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3672116372-76"/>
          <p:cNvSpPr/>
          <p:nvPr/>
        </p:nvSpPr>
        <p:spPr>
          <a:xfrm>
            <a:off x="1736452" y="1753791"/>
            <a:ext cx="391120" cy="185738"/>
          </a:xfrm>
          <a:prstGeom prst="roundRect">
            <a:avLst>
              <a:gd name="adj" fmla="val 20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3672116373-78"/>
          <p:cNvSpPr/>
          <p:nvPr/>
        </p:nvSpPr>
        <p:spPr>
          <a:xfrm>
            <a:off x="2170435" y="1753791"/>
            <a:ext cx="346695" cy="185738"/>
          </a:xfrm>
          <a:prstGeom prst="roundRect">
            <a:avLst>
              <a:gd name="adj" fmla="val 20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3672116373-80"/>
          <p:cNvSpPr/>
          <p:nvPr/>
        </p:nvSpPr>
        <p:spPr>
          <a:xfrm>
            <a:off x="1185863" y="1953816"/>
            <a:ext cx="604242" cy="207169"/>
          </a:xfrm>
          <a:prstGeom prst="roundRect">
            <a:avLst>
              <a:gd name="adj" fmla="val 18391"/>
            </a:avLst>
          </a:prstGeom>
          <a:solidFill>
            <a:srgbClr val="000000">
              <a:alpha val="0"/>
            </a:srgbClr>
          </a:solidFill>
          <a:ln w="10716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17" name="el-1783672116374-82"/>
          <p:cNvSpPr/>
          <p:nvPr/>
        </p:nvSpPr>
        <p:spPr>
          <a:xfrm>
            <a:off x="1185863" y="2175272"/>
            <a:ext cx="639961" cy="185738"/>
          </a:xfrm>
          <a:prstGeom prst="roundRect">
            <a:avLst>
              <a:gd name="adj" fmla="val 20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3672116374-84"/>
          <p:cNvSpPr/>
          <p:nvPr/>
        </p:nvSpPr>
        <p:spPr>
          <a:xfrm>
            <a:off x="1868686" y="2175272"/>
            <a:ext cx="354285" cy="185738"/>
          </a:xfrm>
          <a:prstGeom prst="roundRect">
            <a:avLst>
              <a:gd name="adj" fmla="val 20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3672116375-86"/>
          <p:cNvSpPr/>
          <p:nvPr/>
        </p:nvSpPr>
        <p:spPr>
          <a:xfrm>
            <a:off x="2265834" y="2175272"/>
            <a:ext cx="616669" cy="185738"/>
          </a:xfrm>
          <a:prstGeom prst="roundRect">
            <a:avLst>
              <a:gd name="adj" fmla="val 20513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3672116376-88"/>
          <p:cNvSpPr/>
          <p:nvPr/>
        </p:nvSpPr>
        <p:spPr>
          <a:xfrm>
            <a:off x="1185863" y="2375297"/>
            <a:ext cx="507206" cy="207169"/>
          </a:xfrm>
          <a:prstGeom prst="roundRect">
            <a:avLst>
              <a:gd name="adj" fmla="val 18391"/>
            </a:avLst>
          </a:prstGeom>
          <a:solidFill>
            <a:srgbClr val="000000">
              <a:alpha val="0"/>
            </a:srgbClr>
          </a:solidFill>
          <a:ln w="10716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21" name="el-1783672116376-90"/>
          <p:cNvSpPr/>
          <p:nvPr/>
        </p:nvSpPr>
        <p:spPr>
          <a:xfrm>
            <a:off x="1185863" y="2596753"/>
            <a:ext cx="640333" cy="207169"/>
          </a:xfrm>
          <a:prstGeom prst="roundRect">
            <a:avLst>
              <a:gd name="adj" fmla="val 18391"/>
            </a:avLst>
          </a:prstGeom>
          <a:solidFill>
            <a:srgbClr val="000000">
              <a:alpha val="0"/>
            </a:srgbClr>
          </a:solidFill>
          <a:ln w="10716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sp>
        <p:nvSpPr>
          <p:cNvPr id="22" name="el-1783672116377-92"/>
          <p:cNvSpPr/>
          <p:nvPr/>
        </p:nvSpPr>
        <p:spPr>
          <a:xfrm>
            <a:off x="1185863" y="2818209"/>
            <a:ext cx="782538" cy="207169"/>
          </a:xfrm>
          <a:prstGeom prst="roundRect">
            <a:avLst>
              <a:gd name="adj" fmla="val 18391"/>
            </a:avLst>
          </a:prstGeom>
          <a:solidFill>
            <a:srgbClr val="000000">
              <a:alpha val="0"/>
            </a:srgbClr>
          </a:solidFill>
          <a:ln w="10716" algn="in">
            <a:solidFill>
              <a:srgbClr val="2563E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3" name="el-1783672116348-16"/>
          <p:cNvCxnSpPr/>
          <p:nvPr/>
        </p:nvCxnSpPr>
        <p:spPr>
          <a:xfrm>
            <a:off x="557213" y="3089672"/>
            <a:ext cx="3743325" cy="914"/>
          </a:xfrm>
          <a:prstGeom prst="line">
            <a:avLst/>
          </a:prstGeom>
          <a:ln w="14288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3672116378-94"/>
          <p:cNvSpPr/>
          <p:nvPr/>
        </p:nvSpPr>
        <p:spPr>
          <a:xfrm>
            <a:off x="1228725" y="3168253"/>
            <a:ext cx="617265" cy="185738"/>
          </a:xfrm>
          <a:prstGeom prst="roundRect">
            <a:avLst>
              <a:gd name="adj" fmla="val 20513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-1783672116378-96"/>
          <p:cNvSpPr/>
          <p:nvPr/>
        </p:nvSpPr>
        <p:spPr>
          <a:xfrm>
            <a:off x="1888852" y="3168253"/>
            <a:ext cx="812750" cy="185738"/>
          </a:xfrm>
          <a:prstGeom prst="roundRect">
            <a:avLst>
              <a:gd name="adj" fmla="val 20513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3672116379-98"/>
          <p:cNvSpPr/>
          <p:nvPr/>
        </p:nvSpPr>
        <p:spPr>
          <a:xfrm>
            <a:off x="2744465" y="3168253"/>
            <a:ext cx="448866" cy="185738"/>
          </a:xfrm>
          <a:prstGeom prst="roundRect">
            <a:avLst>
              <a:gd name="adj" fmla="val 20513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-1783672116379-100"/>
          <p:cNvSpPr/>
          <p:nvPr/>
        </p:nvSpPr>
        <p:spPr>
          <a:xfrm>
            <a:off x="3236193" y="3168253"/>
            <a:ext cx="347142" cy="185738"/>
          </a:xfrm>
          <a:prstGeom prst="roundRect">
            <a:avLst>
              <a:gd name="adj" fmla="val 20513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3672116380-102"/>
          <p:cNvSpPr/>
          <p:nvPr/>
        </p:nvSpPr>
        <p:spPr>
          <a:xfrm>
            <a:off x="3626197" y="3168253"/>
            <a:ext cx="602382" cy="185738"/>
          </a:xfrm>
          <a:prstGeom prst="roundRect">
            <a:avLst>
              <a:gd name="adj" fmla="val 20513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el-1783672116368-71"/>
          <p:cNvSpPr/>
          <p:nvPr/>
        </p:nvSpPr>
        <p:spPr>
          <a:xfrm>
            <a:off x="557213" y="3487936"/>
            <a:ext cx="71438" cy="71438"/>
          </a:xfrm>
          <a:prstGeom prst="roundRect">
            <a:avLst>
              <a:gd name="adj" fmla="val 26667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3672116369-72"/>
          <p:cNvSpPr/>
          <p:nvPr/>
        </p:nvSpPr>
        <p:spPr>
          <a:xfrm>
            <a:off x="1297112" y="3487936"/>
            <a:ext cx="71438" cy="71438"/>
          </a:xfrm>
          <a:prstGeom prst="roundRect">
            <a:avLst>
              <a:gd name="adj" fmla="val 26667"/>
            </a:avLst>
          </a:prstGeom>
          <a:solidFill>
            <a:srgbClr val="E2E8F0"/>
          </a:solidFill>
          <a:ln w="7144" algn="in">
            <a:solidFill>
              <a:srgbClr val="94A3B8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31" name="el-1783672116357-36"/>
          <p:cNvCxnSpPr/>
          <p:nvPr/>
        </p:nvCxnSpPr>
        <p:spPr>
          <a:xfrm>
            <a:off x="557213" y="3654028"/>
            <a:ext cx="3743325" cy="914"/>
          </a:xfrm>
          <a:prstGeom prst="line">
            <a:avLst/>
          </a:prstGeom>
          <a:ln w="7144" cap="flat">
            <a:solidFill>
              <a:srgbClr val="E2E8F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-1783672116346-11"/>
          <p:cNvSpPr/>
          <p:nvPr/>
        </p:nvSpPr>
        <p:spPr>
          <a:xfrm>
            <a:off x="4714875" y="1328738"/>
            <a:ext cx="4029075" cy="8786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3" name="el-1783672116346-14"/>
          <p:cNvCxnSpPr/>
          <p:nvPr/>
        </p:nvCxnSpPr>
        <p:spPr>
          <a:xfrm>
            <a:off x="4729163" y="1328738"/>
            <a:ext cx="914" cy="878681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el-1783672116350-20"/>
          <p:cNvSpPr/>
          <p:nvPr/>
        </p:nvSpPr>
        <p:spPr>
          <a:xfrm>
            <a:off x="4872038" y="1657350"/>
            <a:ext cx="654174" cy="203597"/>
          </a:xfrm>
          <a:prstGeom prst="roundRect">
            <a:avLst>
              <a:gd name="adj" fmla="val 18713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5" name="el-1783672116350-22"/>
          <p:cNvSpPr/>
          <p:nvPr/>
        </p:nvSpPr>
        <p:spPr>
          <a:xfrm>
            <a:off x="5611937" y="1657350"/>
            <a:ext cx="528117" cy="203597"/>
          </a:xfrm>
          <a:prstGeom prst="roundRect">
            <a:avLst>
              <a:gd name="adj" fmla="val 18713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6" name="el-1783672116351-24"/>
          <p:cNvSpPr/>
          <p:nvPr/>
        </p:nvSpPr>
        <p:spPr>
          <a:xfrm>
            <a:off x="6225778" y="1657350"/>
            <a:ext cx="1264890" cy="203597"/>
          </a:xfrm>
          <a:prstGeom prst="roundRect">
            <a:avLst>
              <a:gd name="adj" fmla="val 18713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el-1783672116352-26"/>
          <p:cNvSpPr/>
          <p:nvPr/>
        </p:nvSpPr>
        <p:spPr>
          <a:xfrm>
            <a:off x="7576393" y="1657350"/>
            <a:ext cx="692423" cy="203597"/>
          </a:xfrm>
          <a:prstGeom prst="roundRect">
            <a:avLst>
              <a:gd name="adj" fmla="val 18713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el-1783672116353-28"/>
          <p:cNvSpPr/>
          <p:nvPr/>
        </p:nvSpPr>
        <p:spPr>
          <a:xfrm>
            <a:off x="4872038" y="1903809"/>
            <a:ext cx="766167" cy="203597"/>
          </a:xfrm>
          <a:prstGeom prst="roundRect">
            <a:avLst>
              <a:gd name="adj" fmla="val 18713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el-1783672116354-30"/>
          <p:cNvSpPr/>
          <p:nvPr/>
        </p:nvSpPr>
        <p:spPr>
          <a:xfrm>
            <a:off x="5723930" y="1903809"/>
            <a:ext cx="824359" cy="203597"/>
          </a:xfrm>
          <a:prstGeom prst="roundRect">
            <a:avLst>
              <a:gd name="adj" fmla="val 18713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el-1783672116355-32"/>
          <p:cNvSpPr/>
          <p:nvPr/>
        </p:nvSpPr>
        <p:spPr>
          <a:xfrm>
            <a:off x="6634014" y="1903809"/>
            <a:ext cx="602531" cy="203597"/>
          </a:xfrm>
          <a:prstGeom prst="roundRect">
            <a:avLst>
              <a:gd name="adj" fmla="val 18713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41" name="el-1783672116356-34"/>
          <p:cNvSpPr/>
          <p:nvPr/>
        </p:nvSpPr>
        <p:spPr>
          <a:xfrm>
            <a:off x="7322270" y="1903809"/>
            <a:ext cx="700460" cy="203597"/>
          </a:xfrm>
          <a:prstGeom prst="roundRect">
            <a:avLst>
              <a:gd name="adj" fmla="val 18713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sp>
        <p:nvSpPr>
          <p:cNvPr id="42" name="el-1783672116346-12"/>
          <p:cNvSpPr/>
          <p:nvPr/>
        </p:nvSpPr>
        <p:spPr>
          <a:xfrm>
            <a:off x="4714875" y="2350294"/>
            <a:ext cx="4029075" cy="16359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43" name="el-1783672116346-15"/>
          <p:cNvCxnSpPr/>
          <p:nvPr/>
        </p:nvCxnSpPr>
        <p:spPr>
          <a:xfrm>
            <a:off x="4729163" y="2350294"/>
            <a:ext cx="914" cy="1635919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el-1783672116361-47"/>
          <p:cNvCxnSpPr/>
          <p:nvPr/>
        </p:nvCxnSpPr>
        <p:spPr>
          <a:xfrm>
            <a:off x="4872038" y="2832497"/>
            <a:ext cx="1169789" cy="914"/>
          </a:xfrm>
          <a:prstGeom prst="line">
            <a:avLst/>
          </a:prstGeom>
          <a:ln w="14288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-1783672116361-48"/>
          <p:cNvCxnSpPr/>
          <p:nvPr/>
        </p:nvCxnSpPr>
        <p:spPr>
          <a:xfrm>
            <a:off x="6041827" y="2832497"/>
            <a:ext cx="2573536" cy="914"/>
          </a:xfrm>
          <a:prstGeom prst="line">
            <a:avLst/>
          </a:prstGeom>
          <a:ln w="14288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el-1783672116363-53"/>
          <p:cNvCxnSpPr/>
          <p:nvPr/>
        </p:nvCxnSpPr>
        <p:spPr>
          <a:xfrm>
            <a:off x="4872038" y="3046809"/>
            <a:ext cx="1169789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l-1783672116361-49"/>
          <p:cNvCxnSpPr/>
          <p:nvPr/>
        </p:nvCxnSpPr>
        <p:spPr>
          <a:xfrm>
            <a:off x="6041827" y="3046809"/>
            <a:ext cx="2573536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-1783672116363-54"/>
          <p:cNvCxnSpPr/>
          <p:nvPr/>
        </p:nvCxnSpPr>
        <p:spPr>
          <a:xfrm>
            <a:off x="4872038" y="3257550"/>
            <a:ext cx="1169789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el-1783672116361-50"/>
          <p:cNvCxnSpPr/>
          <p:nvPr/>
        </p:nvCxnSpPr>
        <p:spPr>
          <a:xfrm>
            <a:off x="6041827" y="3257550"/>
            <a:ext cx="2573536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el-1783672116363-55"/>
          <p:cNvCxnSpPr/>
          <p:nvPr/>
        </p:nvCxnSpPr>
        <p:spPr>
          <a:xfrm>
            <a:off x="4872038" y="3468291"/>
            <a:ext cx="1169789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el-1783672116361-51"/>
          <p:cNvCxnSpPr/>
          <p:nvPr/>
        </p:nvCxnSpPr>
        <p:spPr>
          <a:xfrm>
            <a:off x="6041827" y="3468291"/>
            <a:ext cx="2573536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el-1783672116363-56"/>
          <p:cNvCxnSpPr/>
          <p:nvPr/>
        </p:nvCxnSpPr>
        <p:spPr>
          <a:xfrm>
            <a:off x="4872038" y="3679031"/>
            <a:ext cx="1169789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el-1783672116362-52"/>
          <p:cNvCxnSpPr/>
          <p:nvPr/>
        </p:nvCxnSpPr>
        <p:spPr>
          <a:xfrm>
            <a:off x="6041827" y="3679031"/>
            <a:ext cx="2573536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el-1783672116349-17"/>
          <p:cNvSpPr txBox="1"/>
          <p:nvPr/>
        </p:nvSpPr>
        <p:spPr>
          <a:xfrm>
            <a:off x="557213" y="1489472"/>
            <a:ext cx="3807619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spc="17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▎系统分层架构</a:t>
            </a:r>
            <a:endParaRPr sz="1010" b="1" spc="17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3672116365-59"/>
          <p:cNvSpPr txBox="1"/>
          <p:nvPr/>
        </p:nvSpPr>
        <p:spPr>
          <a:xfrm>
            <a:off x="510778" y="1777008"/>
            <a:ext cx="589359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730" b="1" spc="17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Controller</a:t>
            </a:r>
            <a:endParaRPr sz="730" b="1" spc="17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3672116371-73"/>
          <p:cNvSpPr txBox="1"/>
          <p:nvPr/>
        </p:nvSpPr>
        <p:spPr>
          <a:xfrm>
            <a:off x="1257300" y="1782366"/>
            <a:ext cx="479152" cy="1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Connect</a:t>
            </a:r>
            <a:endParaRPr sz="67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3672116371-75"/>
          <p:cNvSpPr txBox="1"/>
          <p:nvPr/>
        </p:nvSpPr>
        <p:spPr>
          <a:xfrm>
            <a:off x="1807890" y="1782366"/>
            <a:ext cx="362545" cy="1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Login</a:t>
            </a:r>
            <a:endParaRPr sz="67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3672116372-77"/>
          <p:cNvSpPr txBox="1"/>
          <p:nvPr/>
        </p:nvSpPr>
        <p:spPr>
          <a:xfrm>
            <a:off x="2241873" y="1782366"/>
            <a:ext cx="318120" cy="1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</a:t>
            </a:r>
            <a:endParaRPr sz="67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3672116365-60"/>
          <p:cNvSpPr txBox="1"/>
          <p:nvPr/>
        </p:nvSpPr>
        <p:spPr>
          <a:xfrm>
            <a:off x="510778" y="1987748"/>
            <a:ext cx="589359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730" b="1" spc="17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View</a:t>
            </a:r>
            <a:endParaRPr sz="730" b="1" spc="17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3672116373-79"/>
          <p:cNvSpPr txBox="1"/>
          <p:nvPr/>
        </p:nvSpPr>
        <p:spPr>
          <a:xfrm>
            <a:off x="1268016" y="1993106"/>
            <a:ext cx="564952" cy="1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FXML 界面</a:t>
            </a:r>
            <a:endParaRPr sz="67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el-1783672116365-61"/>
          <p:cNvSpPr txBox="1"/>
          <p:nvPr/>
        </p:nvSpPr>
        <p:spPr>
          <a:xfrm>
            <a:off x="510778" y="2198489"/>
            <a:ext cx="589359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730" b="1" spc="17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Network</a:t>
            </a:r>
            <a:endParaRPr sz="730" b="1" spc="17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el-1783672116373-81"/>
          <p:cNvSpPr txBox="1"/>
          <p:nvPr/>
        </p:nvSpPr>
        <p:spPr>
          <a:xfrm>
            <a:off x="1257300" y="2203847"/>
            <a:ext cx="611386" cy="1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WebSocket</a:t>
            </a:r>
            <a:endParaRPr sz="67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el-1783672116374-83"/>
          <p:cNvSpPr txBox="1"/>
          <p:nvPr/>
        </p:nvSpPr>
        <p:spPr>
          <a:xfrm>
            <a:off x="1940124" y="2203847"/>
            <a:ext cx="325710" cy="1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ZFile</a:t>
            </a:r>
            <a:endParaRPr sz="67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3672116375-85"/>
          <p:cNvSpPr txBox="1"/>
          <p:nvPr/>
        </p:nvSpPr>
        <p:spPr>
          <a:xfrm>
            <a:off x="2337271" y="2203847"/>
            <a:ext cx="588094" cy="1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 spc="1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OnlyOffice</a:t>
            </a:r>
            <a:endParaRPr sz="670" b="1" spc="1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3672116366-62"/>
          <p:cNvSpPr txBox="1"/>
          <p:nvPr/>
        </p:nvSpPr>
        <p:spPr>
          <a:xfrm>
            <a:off x="510778" y="2409230"/>
            <a:ext cx="589359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730" b="1" spc="17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Protocol</a:t>
            </a:r>
            <a:endParaRPr sz="730" b="1" spc="17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el-1783672116375-87"/>
          <p:cNvSpPr txBox="1"/>
          <p:nvPr/>
        </p:nvSpPr>
        <p:spPr>
          <a:xfrm>
            <a:off x="1268016" y="2414588"/>
            <a:ext cx="467916" cy="1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消息协议</a:t>
            </a:r>
            <a:endParaRPr sz="67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el-1783672116366-63"/>
          <p:cNvSpPr txBox="1"/>
          <p:nvPr/>
        </p:nvSpPr>
        <p:spPr>
          <a:xfrm>
            <a:off x="510778" y="2630686"/>
            <a:ext cx="589359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730" b="1" spc="17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Storage</a:t>
            </a:r>
            <a:endParaRPr sz="730" b="1" spc="17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el-1783672116376-89"/>
          <p:cNvSpPr txBox="1"/>
          <p:nvPr/>
        </p:nvSpPr>
        <p:spPr>
          <a:xfrm>
            <a:off x="1268016" y="2636044"/>
            <a:ext cx="601042" cy="1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SQLite 缓存</a:t>
            </a:r>
            <a:endParaRPr sz="67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el-1783672116366-64"/>
          <p:cNvSpPr txBox="1"/>
          <p:nvPr/>
        </p:nvSpPr>
        <p:spPr>
          <a:xfrm>
            <a:off x="510778" y="2852142"/>
            <a:ext cx="589359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730" b="1" spc="17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Model</a:t>
            </a:r>
            <a:endParaRPr sz="730" b="1" spc="17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el-1783672116376-91"/>
          <p:cNvSpPr txBox="1"/>
          <p:nvPr/>
        </p:nvSpPr>
        <p:spPr>
          <a:xfrm>
            <a:off x="1268016" y="2857500"/>
            <a:ext cx="743248" cy="1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Room / Friend</a:t>
            </a:r>
            <a:endParaRPr sz="67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el-1783672116366-65"/>
          <p:cNvSpPr txBox="1"/>
          <p:nvPr/>
        </p:nvSpPr>
        <p:spPr>
          <a:xfrm>
            <a:off x="510778" y="3191470"/>
            <a:ext cx="589359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73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Server</a:t>
            </a:r>
            <a:endParaRPr sz="73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el-1783672116377-93"/>
          <p:cNvSpPr txBox="1"/>
          <p:nvPr/>
        </p:nvSpPr>
        <p:spPr>
          <a:xfrm>
            <a:off x="1300163" y="3196828"/>
            <a:ext cx="588690" cy="1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ChatServer</a:t>
            </a:r>
            <a:endParaRPr sz="67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el-1783672116378-95"/>
          <p:cNvSpPr txBox="1"/>
          <p:nvPr/>
        </p:nvSpPr>
        <p:spPr>
          <a:xfrm>
            <a:off x="1960290" y="3196828"/>
            <a:ext cx="784175" cy="1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MessageRouter</a:t>
            </a:r>
            <a:endParaRPr sz="67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el-1783672116378-97"/>
          <p:cNvSpPr txBox="1"/>
          <p:nvPr/>
        </p:nvSpPr>
        <p:spPr>
          <a:xfrm>
            <a:off x="2815903" y="3196828"/>
            <a:ext cx="420291" cy="1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MySQL</a:t>
            </a:r>
            <a:endParaRPr sz="67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el-1783672116379-99"/>
          <p:cNvSpPr txBox="1"/>
          <p:nvPr/>
        </p:nvSpPr>
        <p:spPr>
          <a:xfrm>
            <a:off x="3307631" y="3196828"/>
            <a:ext cx="318567" cy="1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ZFile</a:t>
            </a:r>
            <a:endParaRPr sz="67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el-1783672116379-101"/>
          <p:cNvSpPr txBox="1"/>
          <p:nvPr/>
        </p:nvSpPr>
        <p:spPr>
          <a:xfrm>
            <a:off x="3697635" y="3196828"/>
            <a:ext cx="573807" cy="1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OnlyOffice</a:t>
            </a:r>
            <a:endParaRPr sz="67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el-1783672116364-57"/>
          <p:cNvSpPr txBox="1"/>
          <p:nvPr/>
        </p:nvSpPr>
        <p:spPr>
          <a:xfrm>
            <a:off x="671513" y="3464124"/>
            <a:ext cx="554162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 (六层)</a:t>
            </a:r>
            <a:endParaRPr sz="67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l-1783672116364-58"/>
          <p:cNvSpPr txBox="1"/>
          <p:nvPr/>
        </p:nvSpPr>
        <p:spPr>
          <a:xfrm>
            <a:off x="1411412" y="3464124"/>
            <a:ext cx="471488" cy="1143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服务端组件</a:t>
            </a:r>
            <a:endParaRPr sz="67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el-1783672116360-37"/>
          <p:cNvSpPr txBox="1"/>
          <p:nvPr/>
        </p:nvSpPr>
        <p:spPr>
          <a:xfrm>
            <a:off x="1954337" y="3459361"/>
            <a:ext cx="65931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67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el-1783672116360-38"/>
          <p:cNvSpPr txBox="1"/>
          <p:nvPr/>
        </p:nvSpPr>
        <p:spPr>
          <a:xfrm>
            <a:off x="2091705" y="3454003"/>
            <a:ext cx="975122" cy="1393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层间通过消息协议通信</a:t>
            </a:r>
            <a:endParaRPr sz="73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el-1783672116360-39"/>
          <p:cNvSpPr txBox="1"/>
          <p:nvPr/>
        </p:nvSpPr>
        <p:spPr>
          <a:xfrm>
            <a:off x="557213" y="3705225"/>
            <a:ext cx="1965573" cy="1238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契约先行 · 每半天集成 · 各模块按接口独立开发</a:t>
            </a:r>
            <a:endParaRPr sz="73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el-1783672116349-18"/>
          <p:cNvSpPr txBox="1"/>
          <p:nvPr/>
        </p:nvSpPr>
        <p:spPr>
          <a:xfrm>
            <a:off x="4872038" y="1428750"/>
            <a:ext cx="38004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⚙️ 技术栈</a:t>
            </a:r>
            <a:endParaRPr sz="9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el-1783672116349-19"/>
          <p:cNvSpPr txBox="1"/>
          <p:nvPr/>
        </p:nvSpPr>
        <p:spPr>
          <a:xfrm>
            <a:off x="4950619" y="1678781"/>
            <a:ext cx="629171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JavaFX 21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el-1783672116350-21"/>
          <p:cNvSpPr txBox="1"/>
          <p:nvPr/>
        </p:nvSpPr>
        <p:spPr>
          <a:xfrm>
            <a:off x="5690518" y="1678781"/>
            <a:ext cx="503113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 21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el-1783672116350-23"/>
          <p:cNvSpPr txBox="1"/>
          <p:nvPr/>
        </p:nvSpPr>
        <p:spPr>
          <a:xfrm>
            <a:off x="6304359" y="1678781"/>
            <a:ext cx="1239887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Java-WebSocket 1.5.2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el-1783672116351-25"/>
          <p:cNvSpPr txBox="1"/>
          <p:nvPr/>
        </p:nvSpPr>
        <p:spPr>
          <a:xfrm>
            <a:off x="7654975" y="1678781"/>
            <a:ext cx="667420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Gson 2.9.1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el-1783672116352-27"/>
          <p:cNvSpPr txBox="1"/>
          <p:nvPr/>
        </p:nvSpPr>
        <p:spPr>
          <a:xfrm>
            <a:off x="4950619" y="1925241"/>
            <a:ext cx="741164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Maven 3.6+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el-1783672116353-29"/>
          <p:cNvSpPr txBox="1"/>
          <p:nvPr/>
        </p:nvSpPr>
        <p:spPr>
          <a:xfrm>
            <a:off x="5802511" y="1925241"/>
            <a:ext cx="799356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SQLite 3.42.0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el-1783672116354-31"/>
          <p:cNvSpPr txBox="1"/>
          <p:nvPr/>
        </p:nvSpPr>
        <p:spPr>
          <a:xfrm>
            <a:off x="6712595" y="1925241"/>
            <a:ext cx="577528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ZFile API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el-1783672116355-33"/>
          <p:cNvSpPr txBox="1"/>
          <p:nvPr/>
        </p:nvSpPr>
        <p:spPr>
          <a:xfrm>
            <a:off x="7400851" y="1925241"/>
            <a:ext cx="675456" cy="1607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OnlyOffice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el-1783672116356-35"/>
          <p:cNvSpPr txBox="1"/>
          <p:nvPr/>
        </p:nvSpPr>
        <p:spPr>
          <a:xfrm>
            <a:off x="4872038" y="2421731"/>
            <a:ext cx="38004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📋 责任矩阵</a:t>
            </a:r>
            <a:endParaRPr sz="9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el-1783672116360-40"/>
          <p:cNvSpPr txBox="1"/>
          <p:nvPr/>
        </p:nvSpPr>
        <p:spPr>
          <a:xfrm>
            <a:off x="4900613" y="2650331"/>
            <a:ext cx="1194792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</a:t>
            </a:r>
            <a:endParaRPr sz="8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el-1783672116360-41"/>
          <p:cNvSpPr txBox="1"/>
          <p:nvPr/>
        </p:nvSpPr>
        <p:spPr>
          <a:xfrm>
            <a:off x="6070402" y="2650331"/>
            <a:ext cx="2598539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职责</a:t>
            </a:r>
            <a:endParaRPr sz="8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el-1783672116366-66"/>
          <p:cNvSpPr txBox="1"/>
          <p:nvPr/>
        </p:nvSpPr>
        <p:spPr>
          <a:xfrm>
            <a:off x="4900609" y="2868230"/>
            <a:ext cx="354514" cy="1607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8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吕林涵</a:t>
            </a:r>
            <a:endParaRPr sz="8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el-1783672116360-42"/>
          <p:cNvSpPr txBox="1"/>
          <p:nvPr/>
        </p:nvSpPr>
        <p:spPr>
          <a:xfrm>
            <a:off x="6070402" y="2868216"/>
            <a:ext cx="2598539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架构设计 + 集成联调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el-1783672116366-67"/>
          <p:cNvSpPr txBox="1"/>
          <p:nvPr/>
        </p:nvSpPr>
        <p:spPr>
          <a:xfrm>
            <a:off x="4900613" y="3083719"/>
            <a:ext cx="348481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8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孔德桥</a:t>
            </a:r>
            <a:endParaRPr sz="8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el-1783672116360-43"/>
          <p:cNvSpPr txBox="1"/>
          <p:nvPr/>
        </p:nvSpPr>
        <p:spPr>
          <a:xfrm>
            <a:off x="6070402" y="3078956"/>
            <a:ext cx="2598539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连接管理 + 用户认证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el-1783672116366-68"/>
          <p:cNvSpPr txBox="1"/>
          <p:nvPr/>
        </p:nvSpPr>
        <p:spPr>
          <a:xfrm>
            <a:off x="4900613" y="3294460"/>
            <a:ext cx="341188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8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康佳兆</a:t>
            </a:r>
            <a:endParaRPr sz="8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el-1783672116360-44"/>
          <p:cNvSpPr txBox="1"/>
          <p:nvPr/>
        </p:nvSpPr>
        <p:spPr>
          <a:xfrm>
            <a:off x="6070402" y="3289697"/>
            <a:ext cx="2598539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房间管理 + 消息系统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el-1783672116366-69"/>
          <p:cNvSpPr txBox="1"/>
          <p:nvPr/>
        </p:nvSpPr>
        <p:spPr>
          <a:xfrm>
            <a:off x="4900613" y="3505200"/>
            <a:ext cx="340072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8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毛嘉文</a:t>
            </a:r>
            <a:endParaRPr sz="8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el-1783672116360-45"/>
          <p:cNvSpPr txBox="1"/>
          <p:nvPr/>
        </p:nvSpPr>
        <p:spPr>
          <a:xfrm>
            <a:off x="6070402" y="3500438"/>
            <a:ext cx="2598539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好友系统 + 文件处理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el-1783672116366-70"/>
          <p:cNvSpPr txBox="1"/>
          <p:nvPr/>
        </p:nvSpPr>
        <p:spPr>
          <a:xfrm>
            <a:off x="4900613" y="3715941"/>
            <a:ext cx="352723" cy="142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84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吕林涵</a:t>
            </a:r>
            <a:endParaRPr sz="84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el-1783672116360-46"/>
          <p:cNvSpPr txBox="1"/>
          <p:nvPr/>
        </p:nvSpPr>
        <p:spPr>
          <a:xfrm>
            <a:off x="6070402" y="3711178"/>
            <a:ext cx="2598539" cy="1607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本地存储 + 协议层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3672116389-2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3672116389-3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3672116390-4"/>
          <p:cNvSpPr txBox="1"/>
          <p:nvPr/>
        </p:nvSpPr>
        <p:spPr>
          <a:xfrm>
            <a:off x="400050" y="103584"/>
            <a:ext cx="1728788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数据库与契约设计</a:t>
            </a:r>
            <a:endParaRPr sz="1570" b="1" spc="28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3672116390-5"/>
          <p:cNvSpPr txBox="1"/>
          <p:nvPr/>
        </p:nvSpPr>
        <p:spPr>
          <a:xfrm>
            <a:off x="8359304" y="167878"/>
            <a:ext cx="44179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16</a:t>
            </a:r>
            <a:endParaRPr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3672116394-11"/>
          <p:cNvSpPr txBox="1"/>
          <p:nvPr/>
        </p:nvSpPr>
        <p:spPr>
          <a:xfrm>
            <a:off x="400050" y="4900613"/>
            <a:ext cx="160101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 · 数据库与契约设计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3672116394-12"/>
          <p:cNvSpPr txBox="1"/>
          <p:nvPr/>
        </p:nvSpPr>
        <p:spPr>
          <a:xfrm>
            <a:off x="2122512" y="4900613"/>
            <a:ext cx="769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3672116394-13"/>
          <p:cNvSpPr txBox="1"/>
          <p:nvPr/>
        </p:nvSpPr>
        <p:spPr>
          <a:xfrm>
            <a:off x="2320900" y="4900613"/>
            <a:ext cx="567407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2026.07.10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3672116394-14"/>
          <p:cNvSpPr txBox="1"/>
          <p:nvPr/>
        </p:nvSpPr>
        <p:spPr>
          <a:xfrm>
            <a:off x="7860581" y="4910138"/>
            <a:ext cx="933376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学术答辩 · 严谨求实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3672116389-1"/>
          <p:cNvSpPr txBox="1"/>
          <p:nvPr/>
        </p:nvSpPr>
        <p:spPr>
          <a:xfrm>
            <a:off x="7743751" y="4143375"/>
            <a:ext cx="1400249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50" b="1" spc="225">
                <a:solidFill>
                  <a:srgbClr val="2563EB">
                    <a:alpha val="4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6750" b="1" spc="225">
              <a:solidFill>
                <a:srgbClr val="2563EB">
                  <a:alpha val="4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el-1783672116394-15"/>
          <p:cNvCxnSpPr/>
          <p:nvPr/>
        </p:nvCxnSpPr>
        <p:spPr>
          <a:xfrm>
            <a:off x="414338" y="1012031"/>
            <a:ext cx="914" cy="185738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3672116402-49"/>
          <p:cNvSpPr/>
          <p:nvPr/>
        </p:nvSpPr>
        <p:spPr>
          <a:xfrm>
            <a:off x="400050" y="1340644"/>
            <a:ext cx="1978819" cy="4714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3672116402-53"/>
          <p:cNvCxnSpPr/>
          <p:nvPr/>
        </p:nvCxnSpPr>
        <p:spPr>
          <a:xfrm>
            <a:off x="414338" y="1340644"/>
            <a:ext cx="914" cy="471413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3672116402-50"/>
          <p:cNvSpPr/>
          <p:nvPr/>
        </p:nvSpPr>
        <p:spPr>
          <a:xfrm>
            <a:off x="2450306" y="1340644"/>
            <a:ext cx="1978819" cy="4714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3672116402-54"/>
          <p:cNvCxnSpPr/>
          <p:nvPr/>
        </p:nvCxnSpPr>
        <p:spPr>
          <a:xfrm>
            <a:off x="2464594" y="1340644"/>
            <a:ext cx="914" cy="471413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3672116402-51"/>
          <p:cNvSpPr/>
          <p:nvPr/>
        </p:nvSpPr>
        <p:spPr>
          <a:xfrm>
            <a:off x="400050" y="1883494"/>
            <a:ext cx="1978819" cy="75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3672116402-55"/>
          <p:cNvCxnSpPr/>
          <p:nvPr/>
        </p:nvCxnSpPr>
        <p:spPr>
          <a:xfrm>
            <a:off x="414338" y="1883494"/>
            <a:ext cx="914" cy="751359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3672116402-52"/>
          <p:cNvSpPr/>
          <p:nvPr/>
        </p:nvSpPr>
        <p:spPr>
          <a:xfrm>
            <a:off x="2450306" y="1883494"/>
            <a:ext cx="1978819" cy="75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3672116403-56"/>
          <p:cNvCxnSpPr/>
          <p:nvPr/>
        </p:nvCxnSpPr>
        <p:spPr>
          <a:xfrm>
            <a:off x="2464594" y="1883494"/>
            <a:ext cx="914" cy="751359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3672116395-17"/>
          <p:cNvSpPr/>
          <p:nvPr/>
        </p:nvSpPr>
        <p:spPr>
          <a:xfrm>
            <a:off x="400050" y="2777728"/>
            <a:ext cx="4029075" cy="11787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3672116395-19"/>
          <p:cNvCxnSpPr/>
          <p:nvPr/>
        </p:nvCxnSpPr>
        <p:spPr>
          <a:xfrm>
            <a:off x="414338" y="2777728"/>
            <a:ext cx="914" cy="1178719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l-1783672116394-16"/>
          <p:cNvCxnSpPr/>
          <p:nvPr/>
        </p:nvCxnSpPr>
        <p:spPr>
          <a:xfrm>
            <a:off x="4729163" y="1012031"/>
            <a:ext cx="914" cy="185738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3672116395-18"/>
          <p:cNvSpPr/>
          <p:nvPr/>
        </p:nvSpPr>
        <p:spPr>
          <a:xfrm>
            <a:off x="4714875" y="1312069"/>
            <a:ext cx="4029075" cy="24264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4" name="el-1783672116395-20"/>
          <p:cNvCxnSpPr/>
          <p:nvPr/>
        </p:nvCxnSpPr>
        <p:spPr>
          <a:xfrm>
            <a:off x="4729163" y="1312069"/>
            <a:ext cx="914" cy="2426419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el-1783672116400-45"/>
          <p:cNvGraphicFramePr/>
          <p:nvPr/>
        </p:nvGraphicFramePr>
        <p:xfrm>
          <a:off x="4857750" y="1640681"/>
          <a:ext cx="3771900" cy="199779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43955"/>
                <a:gridCol w="988219"/>
                <a:gridCol w="1139726"/>
              </a:tblGrid>
              <a:tr h="275034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字段</a:t>
                      </a:r>
                      <a:endParaRPr sz="8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7150" marB="57150" anchor="ctr">
                    <a:solidFill>
                      <a:srgbClr val="2563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类型</a:t>
                      </a:r>
                      <a:endParaRPr sz="8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7150" marB="57150" anchor="ctr">
                    <a:solidFill>
                      <a:srgbClr val="2563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2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约束</a:t>
                      </a:r>
                      <a:endParaRPr sz="82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7150" marB="57150" anchor="ctr">
                    <a:solidFill>
                      <a:srgbClr val="2563EB"/>
                    </a:solidFill>
                  </a:tcPr>
                </a:tc>
              </a:tr>
              <a:tr h="243557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id</a:t>
                      </a:r>
                      <a:endParaRPr sz="7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</a:t>
                      </a:r>
                      <a:endParaRPr sz="75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主键，自增</a:t>
                      </a:r>
                      <a:endParaRPr sz="75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</a:tr>
              <a:tr h="24712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conversation_id</a:t>
                      </a:r>
                      <a:endParaRPr sz="7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TEXT</a:t>
                      </a:r>
                      <a:endParaRPr sz="75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NOT NULL</a:t>
                      </a:r>
                      <a:endParaRPr sz="75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</a:tr>
              <a:tr h="24712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message_type</a:t>
                      </a:r>
                      <a:endParaRPr sz="7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TEXT</a:t>
                      </a:r>
                      <a:endParaRPr sz="75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NOT NULL</a:t>
                      </a:r>
                      <a:endParaRPr sz="75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</a:tr>
              <a:tr h="24712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from_user</a:t>
                      </a:r>
                      <a:endParaRPr sz="7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TEXT</a:t>
                      </a:r>
                      <a:endParaRPr sz="75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NOT NULL</a:t>
                      </a:r>
                      <a:endParaRPr sz="75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</a:tr>
              <a:tr h="24712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content</a:t>
                      </a:r>
                      <a:endParaRPr sz="7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TEXT</a:t>
                      </a:r>
                      <a:endParaRPr sz="75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75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</a:tr>
              <a:tr h="24712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time</a:t>
                      </a:r>
                      <a:endParaRPr sz="7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INTEGER</a:t>
                      </a:r>
                      <a:endParaRPr sz="75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NOT NULL</a:t>
                      </a:r>
                      <a:endParaRPr sz="75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>
                    <a:lnB w="7144">
                      <a:solidFill>
                        <a:srgbClr val="D1D5DB"/>
                      </a:solidFill>
                    </a:lnB>
                  </a:tcPr>
                </a:tc>
              </a:tr>
              <a:tr h="243557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 b="1">
                          <a:solidFill>
                            <a:srgbClr val="2563E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message_id</a:t>
                      </a:r>
                      <a:endParaRPr sz="750" b="1">
                        <a:solidFill>
                          <a:srgbClr val="2563E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TEXT</a:t>
                      </a:r>
                      <a:endParaRPr sz="75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5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唯一约束</a:t>
                      </a:r>
                      <a:endParaRPr sz="75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1438" marR="71438" marT="50006" marB="50006" anchor="ctr"/>
                </a:tc>
              </a:tr>
            </a:tbl>
          </a:graphicData>
        </a:graphic>
      </p:graphicFrame>
      <p:sp>
        <p:nvSpPr>
          <p:cNvPr id="26" name="el-1783672116393-7"/>
          <p:cNvSpPr/>
          <p:nvPr/>
        </p:nvSpPr>
        <p:spPr>
          <a:xfrm>
            <a:off x="4714875" y="3838501"/>
            <a:ext cx="4029075" cy="4643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7" name="el-1783672116394-10"/>
          <p:cNvCxnSpPr/>
          <p:nvPr/>
        </p:nvCxnSpPr>
        <p:spPr>
          <a:xfrm>
            <a:off x="4729163" y="3838501"/>
            <a:ext cx="914" cy="464344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-1783672116393-8"/>
          <p:cNvSpPr txBox="1"/>
          <p:nvPr/>
        </p:nvSpPr>
        <p:spPr>
          <a:xfrm>
            <a:off x="528638" y="1012031"/>
            <a:ext cx="3971925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消息协议 · 25 种类型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3672116403-57"/>
          <p:cNvSpPr txBox="1"/>
          <p:nvPr/>
        </p:nvSpPr>
        <p:spPr>
          <a:xfrm>
            <a:off x="514350" y="1412081"/>
            <a:ext cx="1835944" cy="159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</a:t>
            </a:r>
            <a:endParaRPr sz="9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3672116403-58"/>
          <p:cNvSpPr txBox="1"/>
          <p:nvPr/>
        </p:nvSpPr>
        <p:spPr>
          <a:xfrm>
            <a:off x="514350" y="1600646"/>
            <a:ext cx="1828800" cy="1399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LOGIN · REGISTER</a:t>
            </a:r>
            <a:endParaRPr sz="78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3672116403-59"/>
          <p:cNvSpPr txBox="1"/>
          <p:nvPr/>
        </p:nvSpPr>
        <p:spPr>
          <a:xfrm>
            <a:off x="2564606" y="1412081"/>
            <a:ext cx="1835944" cy="159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消息通信</a:t>
            </a:r>
            <a:endParaRPr sz="9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3672116404-60"/>
          <p:cNvSpPr txBox="1"/>
          <p:nvPr/>
        </p:nvSpPr>
        <p:spPr>
          <a:xfrm>
            <a:off x="2564606" y="1600646"/>
            <a:ext cx="1828800" cy="1399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TEXT · IMAGE · FILE · PRIVATE_CHAT</a:t>
            </a:r>
            <a:endParaRPr sz="78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3672116404-61"/>
          <p:cNvSpPr txBox="1"/>
          <p:nvPr/>
        </p:nvSpPr>
        <p:spPr>
          <a:xfrm>
            <a:off x="514350" y="1954932"/>
            <a:ext cx="1835944" cy="159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房间管理</a:t>
            </a:r>
            <a:endParaRPr sz="9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3672116404-62"/>
          <p:cNvSpPr txBox="1"/>
          <p:nvPr/>
        </p:nvSpPr>
        <p:spPr>
          <a:xfrm>
            <a:off x="514350" y="2143497"/>
            <a:ext cx="1828800" cy="1399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JOIN · CREATE_ROOM · EXIT_ROOM</a:t>
            </a:r>
            <a:endParaRPr sz="78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3672116404-63"/>
          <p:cNvSpPr txBox="1"/>
          <p:nvPr/>
        </p:nvSpPr>
        <p:spPr>
          <a:xfrm>
            <a:off x="2564606" y="1954932"/>
            <a:ext cx="1835944" cy="159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好友 / 文件</a:t>
            </a:r>
            <a:endParaRPr sz="9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3672116404-64"/>
          <p:cNvSpPr txBox="1"/>
          <p:nvPr/>
        </p:nvSpPr>
        <p:spPr>
          <a:xfrm>
            <a:off x="2564606" y="2143497"/>
            <a:ext cx="1778794" cy="4199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90"/>
              </a:lnSpc>
            </a:pPr>
            <a:r>
              <a:rPr sz="78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FRIEND_REQUEST · FRIEND_LIST · REQUEST_TOKEN · TOKEN_RESPONSE</a:t>
            </a:r>
            <a:endParaRPr sz="78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3672116401-46"/>
          <p:cNvSpPr txBox="1"/>
          <p:nvPr/>
        </p:nvSpPr>
        <p:spPr>
          <a:xfrm>
            <a:off x="542925" y="2877741"/>
            <a:ext cx="38290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📄 ChatMessage 数据结构</a:t>
            </a:r>
            <a:endParaRPr sz="9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3672116401-47"/>
          <p:cNvSpPr txBox="1"/>
          <p:nvPr/>
        </p:nvSpPr>
        <p:spPr>
          <a:xfrm>
            <a:off x="542925" y="3106341"/>
            <a:ext cx="3771900" cy="7500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>
              <a:lnSpc>
                <a:spcPts val="1170"/>
              </a:lnSpc>
            </a:pPr>
            <a:r>
              <a:rPr sz="780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ChatMessage { type, from, content, time, id, conversationId, isNSFW, iv }</a:t>
            </a:r>
            <a:endParaRPr sz="780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9" name="el-1783672116393-9"/>
          <p:cNvSpPr txBox="1"/>
          <p:nvPr/>
        </p:nvSpPr>
        <p:spPr>
          <a:xfrm>
            <a:off x="4843463" y="1012031"/>
            <a:ext cx="3971925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本地数据库 · messages 表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3672116401-48"/>
          <p:cNvSpPr txBox="1"/>
          <p:nvPr/>
        </p:nvSpPr>
        <p:spPr>
          <a:xfrm>
            <a:off x="4857750" y="1412081"/>
            <a:ext cx="38290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核心字段设计</a:t>
            </a:r>
            <a:endParaRPr sz="90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3672116393-6"/>
          <p:cNvSpPr txBox="1"/>
          <p:nvPr/>
        </p:nvSpPr>
        <p:spPr>
          <a:xfrm>
            <a:off x="4857750" y="3909938"/>
            <a:ext cx="3782616" cy="32146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60"/>
              </a:lnSpc>
            </a:pPr>
            <a:r>
              <a:rPr sz="84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存储路径：</a:t>
            </a:r>
            <a:r>
              <a:rPr sz="84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~/.chat_client/{username}_messages.db</a:t>
            </a:r>
            <a:endParaRPr sz="84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260"/>
              </a:lnSpc>
            </a:pPr>
            <a:r>
              <a:rPr sz="78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每个用户独立数据库，隔离性好</a:t>
            </a:r>
            <a:endParaRPr sz="78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3672116409-2"/>
          <p:cNvSpPr/>
          <p:nvPr/>
        </p:nvSpPr>
        <p:spPr>
          <a:xfrm>
            <a:off x="285750" y="857250"/>
            <a:ext cx="28575" cy="1143000"/>
          </a:xfrm>
          <a:prstGeom prst="roundRect">
            <a:avLst>
              <a:gd name="adj" fmla="val 50000"/>
            </a:avLst>
          </a:prstGeom>
          <a:solidFill>
            <a:srgbClr val="2563EB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3672116409-3"/>
          <p:cNvSpPr/>
          <p:nvPr/>
        </p:nvSpPr>
        <p:spPr>
          <a:xfrm>
            <a:off x="8779669" y="4257675"/>
            <a:ext cx="21431" cy="4572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95313"/>
                </a:lnTo>
                <a:close/>
              </a:path>
            </a:pathLst>
          </a:custGeom>
          <a:solidFill>
            <a:srgbClr val="E2E8F0">
              <a:alpha val="5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3672116409-4"/>
          <p:cNvSpPr/>
          <p:nvPr/>
        </p:nvSpPr>
        <p:spPr>
          <a:xfrm>
            <a:off x="8343900" y="4693444"/>
            <a:ext cx="457200" cy="214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5313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2E8F0">
              <a:alpha val="5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3672116411-9"/>
          <p:cNvSpPr/>
          <p:nvPr/>
        </p:nvSpPr>
        <p:spPr>
          <a:xfrm>
            <a:off x="4314825" y="2910036"/>
            <a:ext cx="514350" cy="21431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3672116410-6"/>
          <p:cNvSpPr txBox="1"/>
          <p:nvPr/>
        </p:nvSpPr>
        <p:spPr>
          <a:xfrm>
            <a:off x="4317653" y="1892871"/>
            <a:ext cx="680145" cy="37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700" b="1" spc="338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700" b="1" spc="338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3672116410-7"/>
          <p:cNvSpPr txBox="1"/>
          <p:nvPr/>
        </p:nvSpPr>
        <p:spPr>
          <a:xfrm>
            <a:off x="3721894" y="2412876"/>
            <a:ext cx="1814513" cy="2971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 spc="113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功能模块与演示</a:t>
            </a:r>
            <a:endParaRPr sz="1800" b="1" spc="113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3672116410-8"/>
          <p:cNvSpPr txBox="1"/>
          <p:nvPr/>
        </p:nvSpPr>
        <p:spPr>
          <a:xfrm>
            <a:off x="3542854" y="3674418"/>
            <a:ext cx="2115443" cy="1476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spc="56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 · 核心功能与实机演示</a:t>
            </a:r>
            <a:endParaRPr sz="900" spc="56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3672116412-17"/>
          <p:cNvSpPr/>
          <p:nvPr/>
        </p:nvSpPr>
        <p:spPr>
          <a:xfrm>
            <a:off x="2350294" y="3302943"/>
            <a:ext cx="7144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3672116413-18"/>
          <p:cNvSpPr/>
          <p:nvPr/>
        </p:nvSpPr>
        <p:spPr>
          <a:xfrm>
            <a:off x="3236119" y="3302943"/>
            <a:ext cx="7144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3672116413-19"/>
          <p:cNvSpPr/>
          <p:nvPr/>
        </p:nvSpPr>
        <p:spPr>
          <a:xfrm>
            <a:off x="4121944" y="3302943"/>
            <a:ext cx="7144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3672116413-20"/>
          <p:cNvSpPr/>
          <p:nvPr/>
        </p:nvSpPr>
        <p:spPr>
          <a:xfrm>
            <a:off x="5007769" y="3302943"/>
            <a:ext cx="7144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3672116413-21"/>
          <p:cNvSpPr/>
          <p:nvPr/>
        </p:nvSpPr>
        <p:spPr>
          <a:xfrm>
            <a:off x="5893594" y="3302943"/>
            <a:ext cx="7144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3672116413-22"/>
          <p:cNvSpPr/>
          <p:nvPr/>
        </p:nvSpPr>
        <p:spPr>
          <a:xfrm>
            <a:off x="6779419" y="3302943"/>
            <a:ext cx="7144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3672116412-10"/>
          <p:cNvSpPr txBox="1"/>
          <p:nvPr/>
        </p:nvSpPr>
        <p:spPr>
          <a:xfrm>
            <a:off x="1643063" y="3274368"/>
            <a:ext cx="60721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56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连接管理</a:t>
            </a:r>
            <a:endParaRPr sz="1010" spc="56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3672116412-11"/>
          <p:cNvSpPr txBox="1"/>
          <p:nvPr/>
        </p:nvSpPr>
        <p:spPr>
          <a:xfrm>
            <a:off x="2528888" y="3274368"/>
            <a:ext cx="60721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56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用户认证</a:t>
            </a:r>
            <a:endParaRPr sz="1010" spc="56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3672116412-12"/>
          <p:cNvSpPr txBox="1"/>
          <p:nvPr/>
        </p:nvSpPr>
        <p:spPr>
          <a:xfrm>
            <a:off x="3414713" y="3274368"/>
            <a:ext cx="60721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56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房间管理</a:t>
            </a:r>
            <a:endParaRPr sz="1010" spc="56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3672116412-13"/>
          <p:cNvSpPr txBox="1"/>
          <p:nvPr/>
        </p:nvSpPr>
        <p:spPr>
          <a:xfrm>
            <a:off x="4300538" y="3274368"/>
            <a:ext cx="60721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56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消息系统</a:t>
            </a:r>
            <a:endParaRPr sz="1010" spc="56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3672116412-14"/>
          <p:cNvSpPr txBox="1"/>
          <p:nvPr/>
        </p:nvSpPr>
        <p:spPr>
          <a:xfrm>
            <a:off x="5186363" y="3274368"/>
            <a:ext cx="60721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56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好友系统</a:t>
            </a:r>
            <a:endParaRPr sz="1010" spc="56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3672116412-15"/>
          <p:cNvSpPr txBox="1"/>
          <p:nvPr/>
        </p:nvSpPr>
        <p:spPr>
          <a:xfrm>
            <a:off x="6072188" y="3274368"/>
            <a:ext cx="60721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56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文件处理</a:t>
            </a:r>
            <a:endParaRPr sz="1010" spc="56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3672116412-16"/>
          <p:cNvSpPr txBox="1"/>
          <p:nvPr/>
        </p:nvSpPr>
        <p:spPr>
          <a:xfrm>
            <a:off x="6958013" y="3274368"/>
            <a:ext cx="60721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56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现场演示</a:t>
            </a:r>
            <a:endParaRPr sz="1010" spc="56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3672116408-1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E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3672116409-5"/>
          <p:cNvSpPr/>
          <p:nvPr/>
        </p:nvSpPr>
        <p:spPr>
          <a:xfrm>
            <a:off x="7743825" y="278606"/>
            <a:ext cx="1000125" cy="1428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3672116663-2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3672116664-4"/>
          <p:cNvSpPr txBox="1"/>
          <p:nvPr/>
        </p:nvSpPr>
        <p:spPr>
          <a:xfrm>
            <a:off x="400050" y="103584"/>
            <a:ext cx="1932384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连接管理与用户认证</a:t>
            </a:r>
            <a:endParaRPr sz="1570" b="1" spc="28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3672116664-5"/>
          <p:cNvSpPr txBox="1"/>
          <p:nvPr/>
        </p:nvSpPr>
        <p:spPr>
          <a:xfrm>
            <a:off x="8359304" y="167878"/>
            <a:ext cx="44179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16</a:t>
            </a:r>
            <a:endParaRPr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3672116663-1"/>
          <p:cNvSpPr txBox="1"/>
          <p:nvPr/>
        </p:nvSpPr>
        <p:spPr>
          <a:xfrm>
            <a:off x="7684219" y="4129088"/>
            <a:ext cx="1459781" cy="928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10" b="1" spc="338">
                <a:solidFill>
                  <a:srgbClr val="2563EB">
                    <a:alpha val="4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7310" b="1" spc="338">
              <a:solidFill>
                <a:srgbClr val="2563EB">
                  <a:alpha val="4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el-1783672116664-3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3672116668-12"/>
          <p:cNvCxnSpPr/>
          <p:nvPr/>
        </p:nvCxnSpPr>
        <p:spPr>
          <a:xfrm>
            <a:off x="414338" y="1279550"/>
            <a:ext cx="914" cy="672778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3672116667-10"/>
          <p:cNvSpPr/>
          <p:nvPr/>
        </p:nvSpPr>
        <p:spPr>
          <a:xfrm>
            <a:off x="400050" y="2095202"/>
            <a:ext cx="4029075" cy="5414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3672116668-16"/>
          <p:cNvCxnSpPr/>
          <p:nvPr/>
        </p:nvCxnSpPr>
        <p:spPr>
          <a:xfrm>
            <a:off x="414338" y="2095202"/>
            <a:ext cx="914" cy="541437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3672116679-36"/>
          <p:cNvSpPr/>
          <p:nvPr/>
        </p:nvSpPr>
        <p:spPr>
          <a:xfrm>
            <a:off x="839465" y="2180927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3672116679-39"/>
          <p:cNvSpPr/>
          <p:nvPr/>
        </p:nvSpPr>
        <p:spPr>
          <a:xfrm>
            <a:off x="1822847" y="2180927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3672116680-42"/>
          <p:cNvSpPr/>
          <p:nvPr/>
        </p:nvSpPr>
        <p:spPr>
          <a:xfrm>
            <a:off x="2806229" y="2180927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3672116681-45"/>
          <p:cNvSpPr/>
          <p:nvPr/>
        </p:nvSpPr>
        <p:spPr>
          <a:xfrm>
            <a:off x="3789611" y="2180927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3672116668-13"/>
          <p:cNvCxnSpPr/>
          <p:nvPr/>
        </p:nvCxnSpPr>
        <p:spPr>
          <a:xfrm>
            <a:off x="414338" y="2793802"/>
            <a:ext cx="914" cy="850776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3672116668-14"/>
          <p:cNvCxnSpPr/>
          <p:nvPr/>
        </p:nvCxnSpPr>
        <p:spPr>
          <a:xfrm>
            <a:off x="4729163" y="1279550"/>
            <a:ext cx="914" cy="672778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3672116667-11"/>
          <p:cNvSpPr/>
          <p:nvPr/>
        </p:nvSpPr>
        <p:spPr>
          <a:xfrm>
            <a:off x="4714875" y="2080915"/>
            <a:ext cx="4029075" cy="112871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3672116668-17"/>
          <p:cNvCxnSpPr/>
          <p:nvPr/>
        </p:nvCxnSpPr>
        <p:spPr>
          <a:xfrm>
            <a:off x="4729163" y="2080915"/>
            <a:ext cx="914" cy="1128713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3672116681-48"/>
          <p:cNvSpPr/>
          <p:nvPr/>
        </p:nvSpPr>
        <p:spPr>
          <a:xfrm>
            <a:off x="4857750" y="2180927"/>
            <a:ext cx="200025" cy="20002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3672116682-51"/>
          <p:cNvSpPr/>
          <p:nvPr/>
        </p:nvSpPr>
        <p:spPr>
          <a:xfrm>
            <a:off x="4857750" y="2423815"/>
            <a:ext cx="200025" cy="20002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3672116683-54"/>
          <p:cNvSpPr/>
          <p:nvPr/>
        </p:nvSpPr>
        <p:spPr>
          <a:xfrm>
            <a:off x="4857750" y="2666702"/>
            <a:ext cx="200025" cy="20002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3672116683-57"/>
          <p:cNvSpPr/>
          <p:nvPr/>
        </p:nvSpPr>
        <p:spPr>
          <a:xfrm>
            <a:off x="4857750" y="2909590"/>
            <a:ext cx="200025" cy="200025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2" name="el-1783672116668-15"/>
          <p:cNvCxnSpPr/>
          <p:nvPr/>
        </p:nvCxnSpPr>
        <p:spPr>
          <a:xfrm>
            <a:off x="4729163" y="3366790"/>
            <a:ext cx="914" cy="668610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3672116671-20"/>
          <p:cNvSpPr txBox="1"/>
          <p:nvPr/>
        </p:nvSpPr>
        <p:spPr>
          <a:xfrm>
            <a:off x="542925" y="1279550"/>
            <a:ext cx="3964781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🔗 连接管理</a:t>
            </a:r>
            <a:endParaRPr sz="123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3672116670-18"/>
          <p:cNvSpPr txBox="1"/>
          <p:nvPr/>
        </p:nvSpPr>
        <p:spPr>
          <a:xfrm>
            <a:off x="542925" y="1540966"/>
            <a:ext cx="3886200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输入服务器地址（默认 </a:t>
            </a: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localhost</a:t>
            </a: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）和端口（默认 </a:t>
            </a: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8889</a:t>
            </a: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 成功后自动跳转登录界面。</a:t>
            </a:r>
            <a:endParaRPr sz="101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3672116678-35"/>
          <p:cNvSpPr txBox="1"/>
          <p:nvPr/>
        </p:nvSpPr>
        <p:spPr>
          <a:xfrm>
            <a:off x="789459" y="2229743"/>
            <a:ext cx="328613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3672116679-37"/>
          <p:cNvSpPr txBox="1"/>
          <p:nvPr/>
        </p:nvSpPr>
        <p:spPr>
          <a:xfrm>
            <a:off x="753740" y="2430959"/>
            <a:ext cx="400050" cy="1199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未连接</a:t>
            </a:r>
            <a:endParaRPr sz="7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3672116671-24"/>
          <p:cNvSpPr txBox="1"/>
          <p:nvPr/>
        </p:nvSpPr>
        <p:spPr>
          <a:xfrm>
            <a:off x="1378893" y="2258764"/>
            <a:ext cx="204564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3672116679-38"/>
          <p:cNvSpPr txBox="1"/>
          <p:nvPr/>
        </p:nvSpPr>
        <p:spPr>
          <a:xfrm>
            <a:off x="1772841" y="2229743"/>
            <a:ext cx="328613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3672116680-40"/>
          <p:cNvSpPr txBox="1"/>
          <p:nvPr/>
        </p:nvSpPr>
        <p:spPr>
          <a:xfrm>
            <a:off x="1737122" y="2430959"/>
            <a:ext cx="400050" cy="1199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连接中</a:t>
            </a:r>
            <a:endParaRPr sz="7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3672116672-25"/>
          <p:cNvSpPr txBox="1"/>
          <p:nvPr/>
        </p:nvSpPr>
        <p:spPr>
          <a:xfrm>
            <a:off x="2362274" y="2258764"/>
            <a:ext cx="204564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3672116680-41"/>
          <p:cNvSpPr txBox="1"/>
          <p:nvPr/>
        </p:nvSpPr>
        <p:spPr>
          <a:xfrm>
            <a:off x="2756223" y="2229743"/>
            <a:ext cx="328613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3672116680-43"/>
          <p:cNvSpPr txBox="1"/>
          <p:nvPr/>
        </p:nvSpPr>
        <p:spPr>
          <a:xfrm>
            <a:off x="2720504" y="2430959"/>
            <a:ext cx="400050" cy="1199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已连接</a:t>
            </a:r>
            <a:endParaRPr sz="7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3672116672-26"/>
          <p:cNvSpPr txBox="1"/>
          <p:nvPr/>
        </p:nvSpPr>
        <p:spPr>
          <a:xfrm>
            <a:off x="3345656" y="2258764"/>
            <a:ext cx="204564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3672116680-44"/>
          <p:cNvSpPr txBox="1"/>
          <p:nvPr/>
        </p:nvSpPr>
        <p:spPr>
          <a:xfrm>
            <a:off x="3739604" y="2229743"/>
            <a:ext cx="328613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3672116681-46"/>
          <p:cNvSpPr txBox="1"/>
          <p:nvPr/>
        </p:nvSpPr>
        <p:spPr>
          <a:xfrm>
            <a:off x="3653879" y="2430959"/>
            <a:ext cx="500063" cy="1199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连接失败</a:t>
            </a:r>
            <a:endParaRPr sz="7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3672116671-21"/>
          <p:cNvSpPr txBox="1"/>
          <p:nvPr/>
        </p:nvSpPr>
        <p:spPr>
          <a:xfrm>
            <a:off x="542925" y="2793802"/>
            <a:ext cx="3964781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🔍 AI 审查发现</a:t>
            </a:r>
            <a:endParaRPr sz="123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3672116671-22"/>
          <p:cNvSpPr txBox="1"/>
          <p:nvPr/>
        </p:nvSpPr>
        <p:spPr>
          <a:xfrm>
            <a:off x="4857750" y="1279550"/>
            <a:ext cx="3964781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🔐 用户认证</a:t>
            </a:r>
            <a:endParaRPr sz="123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3672116671-19"/>
          <p:cNvSpPr txBox="1"/>
          <p:nvPr/>
        </p:nvSpPr>
        <p:spPr>
          <a:xfrm>
            <a:off x="4857750" y="1540966"/>
            <a:ext cx="3899059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登录：用户名 + 密码 →</a:t>
            </a: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LOGIN</a:t>
            </a: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</a:t>
            </a:r>
            <a:endParaRPr sz="101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15"/>
              </a:lnSpc>
            </a:pP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注册：用户名 + 密码 + 确认密码 + 头像 →</a:t>
            </a: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REGISTER</a:t>
            </a: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</a:t>
            </a:r>
            <a:endParaRPr sz="101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3672116681-47"/>
          <p:cNvSpPr txBox="1"/>
          <p:nvPr/>
        </p:nvSpPr>
        <p:spPr>
          <a:xfrm>
            <a:off x="4807744" y="2215455"/>
            <a:ext cx="300038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3672116682-49"/>
          <p:cNvSpPr txBox="1"/>
          <p:nvPr/>
        </p:nvSpPr>
        <p:spPr>
          <a:xfrm>
            <a:off x="5143500" y="2189857"/>
            <a:ext cx="1088380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输入用户名 &amp; 密码</a:t>
            </a:r>
            <a:endParaRPr sz="9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3672116682-50"/>
          <p:cNvSpPr txBox="1"/>
          <p:nvPr/>
        </p:nvSpPr>
        <p:spPr>
          <a:xfrm>
            <a:off x="4807744" y="2458343"/>
            <a:ext cx="300038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3672116682-52"/>
          <p:cNvSpPr txBox="1"/>
          <p:nvPr/>
        </p:nvSpPr>
        <p:spPr>
          <a:xfrm>
            <a:off x="5143500" y="2432745"/>
            <a:ext cx="1802978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封装为 LOGIN / REGISTER 消息</a:t>
            </a:r>
            <a:endParaRPr sz="9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3672116682-53"/>
          <p:cNvSpPr txBox="1"/>
          <p:nvPr/>
        </p:nvSpPr>
        <p:spPr>
          <a:xfrm>
            <a:off x="4807744" y="2701230"/>
            <a:ext cx="300038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3672116683-55"/>
          <p:cNvSpPr txBox="1"/>
          <p:nvPr/>
        </p:nvSpPr>
        <p:spPr>
          <a:xfrm>
            <a:off x="5143500" y="2675632"/>
            <a:ext cx="1478087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WebSocket 发送至服务端</a:t>
            </a:r>
            <a:endParaRPr sz="9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3672116683-56"/>
          <p:cNvSpPr txBox="1"/>
          <p:nvPr/>
        </p:nvSpPr>
        <p:spPr>
          <a:xfrm>
            <a:off x="4807744" y="2944118"/>
            <a:ext cx="300038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3672116683-58"/>
          <p:cNvSpPr txBox="1"/>
          <p:nvPr/>
        </p:nvSpPr>
        <p:spPr>
          <a:xfrm>
            <a:off x="5143500" y="2918520"/>
            <a:ext cx="1347043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服务端校验 → 返回结果</a:t>
            </a:r>
            <a:endParaRPr sz="9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3672116671-23"/>
          <p:cNvSpPr txBox="1"/>
          <p:nvPr/>
        </p:nvSpPr>
        <p:spPr>
          <a:xfrm>
            <a:off x="4857750" y="3366790"/>
            <a:ext cx="3964781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⚙️ 关键实现点</a:t>
            </a:r>
            <a:endParaRPr sz="123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3672116666-6"/>
          <p:cNvSpPr txBox="1"/>
          <p:nvPr/>
        </p:nvSpPr>
        <p:spPr>
          <a:xfrm>
            <a:off x="400050" y="4900613"/>
            <a:ext cx="170103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 · 连接管理与用户认证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3672116666-7"/>
          <p:cNvSpPr txBox="1"/>
          <p:nvPr/>
        </p:nvSpPr>
        <p:spPr>
          <a:xfrm>
            <a:off x="2222525" y="4900613"/>
            <a:ext cx="769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3672116666-8"/>
          <p:cNvSpPr txBox="1"/>
          <p:nvPr/>
        </p:nvSpPr>
        <p:spPr>
          <a:xfrm>
            <a:off x="2420913" y="4900613"/>
            <a:ext cx="567407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2026.07.10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3672116666-9"/>
          <p:cNvSpPr txBox="1"/>
          <p:nvPr/>
        </p:nvSpPr>
        <p:spPr>
          <a:xfrm>
            <a:off x="7860581" y="4910138"/>
            <a:ext cx="933376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学术答辩 · 严谨求实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3672116677-31"/>
          <p:cNvSpPr txBox="1"/>
          <p:nvPr/>
        </p:nvSpPr>
        <p:spPr>
          <a:xfrm>
            <a:off x="571500" y="3055218"/>
            <a:ext cx="164678" cy="1821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</a:t>
            </a:r>
            <a:endParaRPr sz="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3672116677-32"/>
          <p:cNvSpPr txBox="1"/>
          <p:nvPr/>
        </p:nvSpPr>
        <p:spPr>
          <a:xfrm>
            <a:off x="571500" y="3280246"/>
            <a:ext cx="164678" cy="1821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</a:t>
            </a:r>
            <a:endParaRPr sz="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3672116678-33"/>
          <p:cNvSpPr txBox="1"/>
          <p:nvPr/>
        </p:nvSpPr>
        <p:spPr>
          <a:xfrm>
            <a:off x="4886325" y="3628207"/>
            <a:ext cx="164678" cy="1821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</a:t>
            </a:r>
            <a:endParaRPr sz="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3672116678-34"/>
          <p:cNvSpPr txBox="1"/>
          <p:nvPr/>
        </p:nvSpPr>
        <p:spPr>
          <a:xfrm>
            <a:off x="4886325" y="3853235"/>
            <a:ext cx="164678" cy="1821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</a:t>
            </a:r>
            <a:endParaRPr sz="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3672116675-27"/>
          <p:cNvSpPr txBox="1"/>
          <p:nvPr/>
        </p:nvSpPr>
        <p:spPr>
          <a:xfrm>
            <a:off x="671513" y="3055218"/>
            <a:ext cx="3818334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密码明文传输</a:t>
            </a: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审查后改为哈希传输</a:t>
            </a:r>
            <a:endParaRPr sz="9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3672116675-28"/>
          <p:cNvSpPr txBox="1"/>
          <p:nvPr/>
        </p:nvSpPr>
        <p:spPr>
          <a:xfrm>
            <a:off x="671513" y="3280246"/>
            <a:ext cx="3757613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头像文件未限制类型</a:t>
            </a: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增加白名单过滤（PNG/JPG/JPEG/GIF/BMP）</a:t>
            </a:r>
            <a:endParaRPr sz="9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3672116675-29"/>
          <p:cNvSpPr txBox="1"/>
          <p:nvPr/>
        </p:nvSpPr>
        <p:spPr>
          <a:xfrm>
            <a:off x="4986338" y="3628207"/>
            <a:ext cx="3818334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WebSocket 连接</a:t>
            </a: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状态机管理</a:t>
            </a:r>
            <a:endParaRPr sz="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3672116676-30"/>
          <p:cNvSpPr txBox="1"/>
          <p:nvPr/>
        </p:nvSpPr>
        <p:spPr>
          <a:xfrm>
            <a:off x="4986338" y="3853235"/>
            <a:ext cx="3818334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Platform.runLater()</a:t>
            </a: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确保 UI 线程安全更新</a:t>
            </a:r>
            <a:endParaRPr sz="9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3672116758-2"/>
          <p:cNvCxnSpPr/>
          <p:nvPr/>
        </p:nvCxnSpPr>
        <p:spPr>
          <a:xfrm>
            <a:off x="0" y="510778"/>
            <a:ext cx="9571062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3672116758-3"/>
          <p:cNvCxnSpPr/>
          <p:nvPr/>
        </p:nvCxnSpPr>
        <p:spPr>
          <a:xfrm>
            <a:off x="0" y="4804172"/>
            <a:ext cx="9571062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3672116759-4"/>
          <p:cNvSpPr txBox="1"/>
          <p:nvPr/>
        </p:nvSpPr>
        <p:spPr>
          <a:xfrm>
            <a:off x="400050" y="103584"/>
            <a:ext cx="1932384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房间管理与消息系统</a:t>
            </a:r>
            <a:endParaRPr sz="1570" b="1" spc="28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3672116759-5"/>
          <p:cNvSpPr txBox="1"/>
          <p:nvPr/>
        </p:nvSpPr>
        <p:spPr>
          <a:xfrm>
            <a:off x="8786366" y="167878"/>
            <a:ext cx="38464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16</a:t>
            </a:r>
            <a:endParaRPr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3672116762-12"/>
          <p:cNvSpPr txBox="1"/>
          <p:nvPr/>
        </p:nvSpPr>
        <p:spPr>
          <a:xfrm>
            <a:off x="400050" y="4900613"/>
            <a:ext cx="1701031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 · 房间管理与消息系统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3672116762-13"/>
          <p:cNvSpPr txBox="1"/>
          <p:nvPr/>
        </p:nvSpPr>
        <p:spPr>
          <a:xfrm>
            <a:off x="2222525" y="4900613"/>
            <a:ext cx="769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3672116763-14"/>
          <p:cNvSpPr txBox="1"/>
          <p:nvPr/>
        </p:nvSpPr>
        <p:spPr>
          <a:xfrm>
            <a:off x="2420913" y="4900613"/>
            <a:ext cx="567407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2026.07.10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3672116763-15"/>
          <p:cNvSpPr txBox="1"/>
          <p:nvPr/>
        </p:nvSpPr>
        <p:spPr>
          <a:xfrm>
            <a:off x="8287643" y="4910138"/>
            <a:ext cx="883369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学术答辩 · 严谨求实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3672116758-1"/>
          <p:cNvSpPr txBox="1"/>
          <p:nvPr/>
        </p:nvSpPr>
        <p:spPr>
          <a:xfrm>
            <a:off x="7743751" y="4143375"/>
            <a:ext cx="1400249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50" b="1" spc="225">
                <a:solidFill>
                  <a:srgbClr val="2563EB">
                    <a:alpha val="4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6750" b="1" spc="225">
              <a:solidFill>
                <a:srgbClr val="2563EB">
                  <a:alpha val="4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el-1783672116764-19"/>
          <p:cNvCxnSpPr/>
          <p:nvPr/>
        </p:nvCxnSpPr>
        <p:spPr>
          <a:xfrm>
            <a:off x="414338" y="1434108"/>
            <a:ext cx="914" cy="1282303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3672116764-20"/>
          <p:cNvCxnSpPr/>
          <p:nvPr/>
        </p:nvCxnSpPr>
        <p:spPr>
          <a:xfrm>
            <a:off x="414338" y="2873573"/>
            <a:ext cx="914" cy="1007269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3672116763-16"/>
          <p:cNvCxnSpPr/>
          <p:nvPr/>
        </p:nvCxnSpPr>
        <p:spPr>
          <a:xfrm>
            <a:off x="2328863" y="1434108"/>
            <a:ext cx="914" cy="185738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3672116762-9"/>
          <p:cNvSpPr/>
          <p:nvPr/>
        </p:nvSpPr>
        <p:spPr>
          <a:xfrm>
            <a:off x="2314575" y="1705570"/>
            <a:ext cx="4799037" cy="9999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3672116763-17"/>
          <p:cNvCxnSpPr/>
          <p:nvPr/>
        </p:nvCxnSpPr>
        <p:spPr>
          <a:xfrm>
            <a:off x="2328863" y="1705570"/>
            <a:ext cx="914" cy="999976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-1783672116762-10"/>
          <p:cNvCxnSpPr/>
          <p:nvPr/>
        </p:nvCxnSpPr>
        <p:spPr>
          <a:xfrm>
            <a:off x="2321719" y="2791272"/>
            <a:ext cx="914" cy="171450"/>
          </a:xfrm>
          <a:prstGeom prst="line">
            <a:avLst/>
          </a:prstGeom>
          <a:ln w="14288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3672116763-18"/>
          <p:cNvCxnSpPr/>
          <p:nvPr/>
        </p:nvCxnSpPr>
        <p:spPr>
          <a:xfrm>
            <a:off x="7327925" y="1434108"/>
            <a:ext cx="914" cy="185738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3672116770-39"/>
          <p:cNvSpPr/>
          <p:nvPr/>
        </p:nvSpPr>
        <p:spPr>
          <a:xfrm>
            <a:off x="7765182" y="1759148"/>
            <a:ext cx="377949" cy="128588"/>
          </a:xfrm>
          <a:prstGeom prst="roundRect">
            <a:avLst>
              <a:gd name="adj" fmla="val 2963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3672116765-24"/>
          <p:cNvSpPr/>
          <p:nvPr/>
        </p:nvSpPr>
        <p:spPr>
          <a:xfrm>
            <a:off x="7770837" y="2012752"/>
            <a:ext cx="1373163" cy="3143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6250" y="0"/>
                </a:moveTo>
                <a:lnTo>
                  <a:pt x="95833" y="0"/>
                </a:lnTo>
                <a:lnTo>
                  <a:pt x="96444" y="121"/>
                </a:lnTo>
                <a:lnTo>
                  <a:pt x="97056" y="515"/>
                </a:lnTo>
                <a:lnTo>
                  <a:pt x="97646" y="1182"/>
                </a:lnTo>
                <a:lnTo>
                  <a:pt x="98222" y="2091"/>
                </a:lnTo>
                <a:lnTo>
                  <a:pt x="98778" y="3212"/>
                </a:lnTo>
                <a:lnTo>
                  <a:pt x="99306" y="4606"/>
                </a:lnTo>
                <a:lnTo>
                  <a:pt x="99799" y="6182"/>
                </a:lnTo>
                <a:lnTo>
                  <a:pt x="100111" y="7455"/>
                </a:lnTo>
                <a:lnTo>
                  <a:pt x="100111" y="99970"/>
                </a:lnTo>
                <a:lnTo>
                  <a:pt x="100000" y="100000"/>
                </a:lnTo>
                <a:lnTo>
                  <a:pt x="6250" y="100000"/>
                </a:lnTo>
                <a:lnTo>
                  <a:pt x="5639" y="99879"/>
                </a:lnTo>
                <a:lnTo>
                  <a:pt x="5028" y="99485"/>
                </a:lnTo>
                <a:lnTo>
                  <a:pt x="4438" y="98818"/>
                </a:lnTo>
                <a:lnTo>
                  <a:pt x="3861" y="97909"/>
                </a:lnTo>
                <a:lnTo>
                  <a:pt x="3306" y="96788"/>
                </a:lnTo>
                <a:lnTo>
                  <a:pt x="2778" y="95394"/>
                </a:lnTo>
                <a:lnTo>
                  <a:pt x="2285" y="93818"/>
                </a:lnTo>
                <a:lnTo>
                  <a:pt x="1833" y="92000"/>
                </a:lnTo>
                <a:lnTo>
                  <a:pt x="1417" y="90030"/>
                </a:lnTo>
                <a:lnTo>
                  <a:pt x="1056" y="87879"/>
                </a:lnTo>
                <a:lnTo>
                  <a:pt x="736" y="85576"/>
                </a:lnTo>
                <a:lnTo>
                  <a:pt x="479" y="83152"/>
                </a:lnTo>
                <a:lnTo>
                  <a:pt x="271" y="80636"/>
                </a:lnTo>
                <a:lnTo>
                  <a:pt x="118" y="78061"/>
                </a:lnTo>
                <a:lnTo>
                  <a:pt x="28" y="75394"/>
                </a:lnTo>
                <a:lnTo>
                  <a:pt x="0" y="72727"/>
                </a:lnTo>
                <a:lnTo>
                  <a:pt x="0" y="27273"/>
                </a:lnTo>
                <a:lnTo>
                  <a:pt x="28" y="24606"/>
                </a:lnTo>
                <a:lnTo>
                  <a:pt x="118" y="21939"/>
                </a:lnTo>
                <a:lnTo>
                  <a:pt x="271" y="19364"/>
                </a:lnTo>
                <a:lnTo>
                  <a:pt x="479" y="16848"/>
                </a:lnTo>
                <a:lnTo>
                  <a:pt x="736" y="14424"/>
                </a:lnTo>
                <a:lnTo>
                  <a:pt x="1056" y="12121"/>
                </a:lnTo>
                <a:lnTo>
                  <a:pt x="1417" y="9970"/>
                </a:lnTo>
                <a:lnTo>
                  <a:pt x="1833" y="8000"/>
                </a:lnTo>
                <a:lnTo>
                  <a:pt x="2285" y="6182"/>
                </a:lnTo>
                <a:lnTo>
                  <a:pt x="2778" y="4606"/>
                </a:lnTo>
                <a:lnTo>
                  <a:pt x="3306" y="3212"/>
                </a:lnTo>
                <a:lnTo>
                  <a:pt x="3861" y="2091"/>
                </a:lnTo>
                <a:lnTo>
                  <a:pt x="4438" y="1182"/>
                </a:lnTo>
                <a:lnTo>
                  <a:pt x="5028" y="515"/>
                </a:lnTo>
                <a:lnTo>
                  <a:pt x="5639" y="121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3672116771-42"/>
          <p:cNvSpPr/>
          <p:nvPr/>
        </p:nvSpPr>
        <p:spPr>
          <a:xfrm>
            <a:off x="7765182" y="2480667"/>
            <a:ext cx="377949" cy="128588"/>
          </a:xfrm>
          <a:prstGeom prst="roundRect">
            <a:avLst>
              <a:gd name="adj" fmla="val 2963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3672116766-26"/>
          <p:cNvSpPr/>
          <p:nvPr/>
        </p:nvSpPr>
        <p:spPr>
          <a:xfrm>
            <a:off x="7313637" y="2734270"/>
            <a:ext cx="1628775" cy="3143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5263" y="0"/>
                </a:moveTo>
                <a:lnTo>
                  <a:pt x="94737" y="0"/>
                </a:lnTo>
                <a:cubicBezTo>
                  <a:pt x="97644" y="0"/>
                  <a:pt x="100000" y="12210"/>
                  <a:pt x="100000" y="27273"/>
                </a:cubicBezTo>
                <a:lnTo>
                  <a:pt x="100000" y="72727"/>
                </a:lnTo>
                <a:cubicBezTo>
                  <a:pt x="100000" y="87790"/>
                  <a:pt x="97644" y="100000"/>
                  <a:pt x="94737" y="100000"/>
                </a:cubicBezTo>
                <a:lnTo>
                  <a:pt x="1754" y="100000"/>
                </a:lnTo>
                <a:cubicBezTo>
                  <a:pt x="785" y="100000"/>
                  <a:pt x="0" y="95930"/>
                  <a:pt x="0" y="90909"/>
                </a:cubicBezTo>
                <a:lnTo>
                  <a:pt x="0" y="27273"/>
                </a:lnTo>
                <a:cubicBezTo>
                  <a:pt x="0" y="12210"/>
                  <a:pt x="2356" y="0"/>
                  <a:pt x="5263" y="0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2" name="el-1783672116767-28"/>
          <p:cNvCxnSpPr/>
          <p:nvPr/>
        </p:nvCxnSpPr>
        <p:spPr>
          <a:xfrm>
            <a:off x="7313637" y="3195042"/>
            <a:ext cx="1857375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3672116765-21"/>
          <p:cNvSpPr txBox="1"/>
          <p:nvPr/>
        </p:nvSpPr>
        <p:spPr>
          <a:xfrm>
            <a:off x="542925" y="1434108"/>
            <a:ext cx="1643063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房间管理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3672116765-22"/>
          <p:cNvSpPr txBox="1"/>
          <p:nvPr/>
        </p:nvSpPr>
        <p:spPr>
          <a:xfrm>
            <a:off x="542925" y="2873573"/>
            <a:ext cx="1635919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消息类型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3672116762-7"/>
          <p:cNvSpPr txBox="1"/>
          <p:nvPr/>
        </p:nvSpPr>
        <p:spPr>
          <a:xfrm>
            <a:off x="2443163" y="1434108"/>
            <a:ext cx="4741887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消息缓存去重（AI 生成）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3672116762-8"/>
          <p:cNvSpPr txBox="1"/>
          <p:nvPr/>
        </p:nvSpPr>
        <p:spPr>
          <a:xfrm>
            <a:off x="2471738" y="1805583"/>
            <a:ext cx="4513287" cy="7999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 algn="l">
              <a:lnSpc>
                <a:spcPts val="1250"/>
              </a:lnSpc>
            </a:pPr>
            <a:r>
              <a:rPr sz="780" spc="11">
                <a:solidFill>
                  <a:srgbClr val="1E293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String sql = "INSERT OR IGNORE INTO messages " + "(conversation_id, message_type, from_user, content, time, message_id) " + "VALUES (?, ?, ?, ?, ?, ?)"; // PreparedStatement 防 SQL 注入 // INSERT OR IGNORE + message_id 唯一约束去重</a:t>
            </a:r>
            <a:endParaRPr sz="780" spc="11">
              <a:solidFill>
                <a:srgbClr val="1E293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el-1783672116761-6"/>
          <p:cNvSpPr txBox="1"/>
          <p:nvPr/>
        </p:nvSpPr>
        <p:spPr>
          <a:xfrm>
            <a:off x="2414588" y="2791272"/>
            <a:ext cx="4756175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审查确认：</a:t>
            </a:r>
            <a:r>
              <a:rPr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气泡宽度自适应 · 长文本换行处理 · 缓存去重逻辑正确性</a:t>
            </a:r>
            <a:endParaRPr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3672116762-11"/>
          <p:cNvSpPr txBox="1"/>
          <p:nvPr/>
        </p:nvSpPr>
        <p:spPr>
          <a:xfrm>
            <a:off x="7442225" y="1434108"/>
            <a:ext cx="1728788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消息气泡设计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3672116769-37"/>
          <p:cNvSpPr txBox="1"/>
          <p:nvPr/>
        </p:nvSpPr>
        <p:spPr>
          <a:xfrm>
            <a:off x="7313637" y="1748433"/>
            <a:ext cx="4586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发送气泡</a:t>
            </a:r>
            <a:endParaRPr sz="780" spc="17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3672116770-38"/>
          <p:cNvSpPr txBox="1"/>
          <p:nvPr/>
        </p:nvSpPr>
        <p:spPr>
          <a:xfrm>
            <a:off x="7822332" y="1759148"/>
            <a:ext cx="363662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spc="17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右对齐</a:t>
            </a:r>
            <a:endParaRPr sz="670" spc="17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3672116765-23"/>
          <p:cNvSpPr txBox="1"/>
          <p:nvPr/>
        </p:nvSpPr>
        <p:spPr>
          <a:xfrm>
            <a:off x="7899425" y="2084189"/>
            <a:ext cx="127158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你好！收到文件了吗？</a:t>
            </a:r>
            <a:endParaRPr sz="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3672116771-40"/>
          <p:cNvSpPr txBox="1"/>
          <p:nvPr/>
        </p:nvSpPr>
        <p:spPr>
          <a:xfrm>
            <a:off x="7313637" y="2469952"/>
            <a:ext cx="4586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接收气泡</a:t>
            </a:r>
            <a:endParaRPr sz="780" spc="17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3672116771-41"/>
          <p:cNvSpPr txBox="1"/>
          <p:nvPr/>
        </p:nvSpPr>
        <p:spPr>
          <a:xfrm>
            <a:off x="7822332" y="2480667"/>
            <a:ext cx="363662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0" spc="17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左对齐</a:t>
            </a:r>
            <a:endParaRPr sz="670" spc="17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3672116766-25"/>
          <p:cNvSpPr txBox="1"/>
          <p:nvPr/>
        </p:nvSpPr>
        <p:spPr>
          <a:xfrm>
            <a:off x="7442225" y="2805708"/>
            <a:ext cx="155733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收到了，正在预览，谢谢！</a:t>
            </a:r>
            <a:endParaRPr sz="9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3672116766-27"/>
          <p:cNvSpPr txBox="1"/>
          <p:nvPr/>
        </p:nvSpPr>
        <p:spPr>
          <a:xfrm>
            <a:off x="7313637" y="3255764"/>
            <a:ext cx="1857375" cy="5200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020"/>
              </a:lnSpc>
            </a:pPr>
            <a:r>
              <a:rPr sz="73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发送：深蓝 #2563eb 背景 · 白字 · 圆角 12px</a:t>
            </a:r>
            <a:endParaRPr sz="73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020"/>
              </a:lnSpc>
            </a:pPr>
            <a:r>
              <a:rPr sz="73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接收：浅蓝灰 #e2e8f0 背景 · 深灰字 · 圆角 12px</a:t>
            </a:r>
            <a:endParaRPr sz="73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3672116772-43"/>
          <p:cNvSpPr txBox="1"/>
          <p:nvPr/>
        </p:nvSpPr>
        <p:spPr>
          <a:xfrm>
            <a:off x="557213" y="1676995"/>
            <a:ext cx="114151" cy="1821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3672116772-44"/>
          <p:cNvSpPr txBox="1"/>
          <p:nvPr/>
        </p:nvSpPr>
        <p:spPr>
          <a:xfrm>
            <a:off x="557213" y="2084189"/>
            <a:ext cx="114151" cy="1821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3672116773-45"/>
          <p:cNvSpPr txBox="1"/>
          <p:nvPr/>
        </p:nvSpPr>
        <p:spPr>
          <a:xfrm>
            <a:off x="557213" y="2309217"/>
            <a:ext cx="114151" cy="1821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3672116774-46"/>
          <p:cNvSpPr txBox="1"/>
          <p:nvPr/>
        </p:nvSpPr>
        <p:spPr>
          <a:xfrm>
            <a:off x="557213" y="2534245"/>
            <a:ext cx="114151" cy="1821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endParaRPr sz="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3672116768-29"/>
          <p:cNvSpPr txBox="1"/>
          <p:nvPr/>
        </p:nvSpPr>
        <p:spPr>
          <a:xfrm>
            <a:off x="653504" y="1676995"/>
            <a:ext cx="1461046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创建房间（public / private）</a:t>
            </a:r>
            <a:endParaRPr sz="9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3672116768-30"/>
          <p:cNvSpPr txBox="1"/>
          <p:nvPr/>
        </p:nvSpPr>
        <p:spPr>
          <a:xfrm>
            <a:off x="653504" y="2084189"/>
            <a:ext cx="1521768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加入房间</a:t>
            </a:r>
            <a:endParaRPr sz="9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3672116768-31"/>
          <p:cNvSpPr txBox="1"/>
          <p:nvPr/>
        </p:nvSpPr>
        <p:spPr>
          <a:xfrm>
            <a:off x="653504" y="2309217"/>
            <a:ext cx="1521768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离开房间</a:t>
            </a:r>
            <a:endParaRPr sz="9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3672116769-32"/>
          <p:cNvSpPr txBox="1"/>
          <p:nvPr/>
        </p:nvSpPr>
        <p:spPr>
          <a:xfrm>
            <a:off x="653504" y="2534245"/>
            <a:ext cx="1521768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房间列表展示</a:t>
            </a:r>
            <a:endParaRPr sz="9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3672116769-33"/>
          <p:cNvSpPr txBox="1"/>
          <p:nvPr/>
        </p:nvSpPr>
        <p:spPr>
          <a:xfrm>
            <a:off x="642938" y="3109317"/>
            <a:ext cx="152876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文本消息</a:t>
            </a:r>
            <a:endParaRPr sz="9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3672116769-34"/>
          <p:cNvSpPr txBox="1"/>
          <p:nvPr/>
        </p:nvSpPr>
        <p:spPr>
          <a:xfrm>
            <a:off x="642938" y="3309342"/>
            <a:ext cx="152876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图片消息 (≤10MB)</a:t>
            </a:r>
            <a:endParaRPr sz="9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3672116769-35"/>
          <p:cNvSpPr txBox="1"/>
          <p:nvPr/>
        </p:nvSpPr>
        <p:spPr>
          <a:xfrm>
            <a:off x="642938" y="3509367"/>
            <a:ext cx="152876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文件消息 (≤50MB)</a:t>
            </a:r>
            <a:endParaRPr sz="9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3672116769-36"/>
          <p:cNvSpPr txBox="1"/>
          <p:nvPr/>
        </p:nvSpPr>
        <p:spPr>
          <a:xfrm>
            <a:off x="642938" y="3709392"/>
            <a:ext cx="152876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系统消息</a:t>
            </a:r>
            <a:endParaRPr sz="9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3672116781-2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3672116781-3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3672116782-4"/>
          <p:cNvSpPr txBox="1"/>
          <p:nvPr/>
        </p:nvSpPr>
        <p:spPr>
          <a:xfrm>
            <a:off x="400050" y="103584"/>
            <a:ext cx="1932384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好友系统与文件处理</a:t>
            </a:r>
            <a:endParaRPr sz="1570" b="1" spc="28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3672116782-5"/>
          <p:cNvSpPr txBox="1"/>
          <p:nvPr/>
        </p:nvSpPr>
        <p:spPr>
          <a:xfrm>
            <a:off x="8359304" y="167878"/>
            <a:ext cx="44179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16</a:t>
            </a:r>
            <a:endParaRPr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3672116784-6"/>
          <p:cNvSpPr txBox="1"/>
          <p:nvPr/>
        </p:nvSpPr>
        <p:spPr>
          <a:xfrm>
            <a:off x="400050" y="4900613"/>
            <a:ext cx="120096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 · 功能模块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3672116784-7"/>
          <p:cNvSpPr txBox="1"/>
          <p:nvPr/>
        </p:nvSpPr>
        <p:spPr>
          <a:xfrm>
            <a:off x="1722462" y="4900613"/>
            <a:ext cx="769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3672116784-8"/>
          <p:cNvSpPr txBox="1"/>
          <p:nvPr/>
        </p:nvSpPr>
        <p:spPr>
          <a:xfrm>
            <a:off x="1920850" y="4900613"/>
            <a:ext cx="567407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2026.07.10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3672116784-9"/>
          <p:cNvSpPr txBox="1"/>
          <p:nvPr/>
        </p:nvSpPr>
        <p:spPr>
          <a:xfrm>
            <a:off x="7860581" y="4910138"/>
            <a:ext cx="933376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学术答辩 · 严谨求实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3672116781-1"/>
          <p:cNvSpPr txBox="1"/>
          <p:nvPr/>
        </p:nvSpPr>
        <p:spPr>
          <a:xfrm>
            <a:off x="7743751" y="4143375"/>
            <a:ext cx="1400249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50" b="1" spc="225">
                <a:solidFill>
                  <a:srgbClr val="2563EB">
                    <a:alpha val="4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6750" b="1" spc="225">
              <a:solidFill>
                <a:srgbClr val="2563EB">
                  <a:alpha val="4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el-1783672116785-13"/>
          <p:cNvCxnSpPr/>
          <p:nvPr/>
        </p:nvCxnSpPr>
        <p:spPr>
          <a:xfrm>
            <a:off x="414338" y="1180281"/>
            <a:ext cx="914" cy="1305595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3672116796-35"/>
          <p:cNvSpPr/>
          <p:nvPr/>
        </p:nvSpPr>
        <p:spPr>
          <a:xfrm>
            <a:off x="557213" y="2164035"/>
            <a:ext cx="71438" cy="7143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3672116796-36"/>
          <p:cNvSpPr/>
          <p:nvPr/>
        </p:nvSpPr>
        <p:spPr>
          <a:xfrm>
            <a:off x="1810494" y="2164035"/>
            <a:ext cx="71438" cy="71438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3672116785-10"/>
          <p:cNvSpPr/>
          <p:nvPr/>
        </p:nvSpPr>
        <p:spPr>
          <a:xfrm>
            <a:off x="400050" y="2657326"/>
            <a:ext cx="4000500" cy="8215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3672116785-15"/>
          <p:cNvCxnSpPr/>
          <p:nvPr/>
        </p:nvCxnSpPr>
        <p:spPr>
          <a:xfrm>
            <a:off x="414338" y="2657326"/>
            <a:ext cx="914" cy="821531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-1783672116785-14"/>
          <p:cNvCxnSpPr/>
          <p:nvPr/>
        </p:nvCxnSpPr>
        <p:spPr>
          <a:xfrm>
            <a:off x="4757738" y="1180281"/>
            <a:ext cx="914" cy="871389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3672116799-43"/>
          <p:cNvSpPr/>
          <p:nvPr/>
        </p:nvSpPr>
        <p:spPr>
          <a:xfrm>
            <a:off x="4900613" y="1863105"/>
            <a:ext cx="434653" cy="18856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3672116800-45"/>
          <p:cNvSpPr/>
          <p:nvPr/>
        </p:nvSpPr>
        <p:spPr>
          <a:xfrm>
            <a:off x="5392415" y="1863105"/>
            <a:ext cx="380554" cy="18856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3672116801-47"/>
          <p:cNvSpPr/>
          <p:nvPr/>
        </p:nvSpPr>
        <p:spPr>
          <a:xfrm>
            <a:off x="5830119" y="1863105"/>
            <a:ext cx="423490" cy="18856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3672116801-49"/>
          <p:cNvSpPr/>
          <p:nvPr/>
        </p:nvSpPr>
        <p:spPr>
          <a:xfrm>
            <a:off x="6310759" y="1863105"/>
            <a:ext cx="366638" cy="188565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el-1783672116785-11"/>
          <p:cNvSpPr/>
          <p:nvPr/>
        </p:nvSpPr>
        <p:spPr>
          <a:xfrm>
            <a:off x="4743450" y="2223120"/>
            <a:ext cx="4000500" cy="96143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2" name="el-1783672116786-16"/>
          <p:cNvCxnSpPr/>
          <p:nvPr/>
        </p:nvCxnSpPr>
        <p:spPr>
          <a:xfrm>
            <a:off x="4757738" y="2223120"/>
            <a:ext cx="914" cy="961430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3672116802-51"/>
          <p:cNvSpPr/>
          <p:nvPr/>
        </p:nvSpPr>
        <p:spPr>
          <a:xfrm>
            <a:off x="5093122" y="2647429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3672116802-54"/>
          <p:cNvSpPr/>
          <p:nvPr/>
        </p:nvSpPr>
        <p:spPr>
          <a:xfrm>
            <a:off x="5868442" y="2647429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el-1783672116803-57"/>
          <p:cNvSpPr/>
          <p:nvPr/>
        </p:nvSpPr>
        <p:spPr>
          <a:xfrm>
            <a:off x="6643762" y="2647429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3672116803-60"/>
          <p:cNvSpPr/>
          <p:nvPr/>
        </p:nvSpPr>
        <p:spPr>
          <a:xfrm>
            <a:off x="7419083" y="2587452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el-1783672116804-63"/>
          <p:cNvSpPr/>
          <p:nvPr/>
        </p:nvSpPr>
        <p:spPr>
          <a:xfrm>
            <a:off x="8194403" y="2587452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3672116785-12"/>
          <p:cNvSpPr/>
          <p:nvPr/>
        </p:nvSpPr>
        <p:spPr>
          <a:xfrm>
            <a:off x="4743450" y="3356000"/>
            <a:ext cx="4000500" cy="7786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9" name="el-1783672116786-17"/>
          <p:cNvCxnSpPr/>
          <p:nvPr/>
        </p:nvCxnSpPr>
        <p:spPr>
          <a:xfrm>
            <a:off x="4757738" y="3356000"/>
            <a:ext cx="914" cy="778669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3672116787-18"/>
          <p:cNvSpPr txBox="1"/>
          <p:nvPr/>
        </p:nvSpPr>
        <p:spPr>
          <a:xfrm>
            <a:off x="557213" y="1180281"/>
            <a:ext cx="3914775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👥 好友系统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3672116793-29"/>
          <p:cNvSpPr txBox="1"/>
          <p:nvPr/>
        </p:nvSpPr>
        <p:spPr>
          <a:xfrm>
            <a:off x="557213" y="1423169"/>
            <a:ext cx="3907631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spc="1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添加好友</a:t>
            </a: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：用户名搜索 + 发送请求</a:t>
            </a:r>
            <a:endParaRPr sz="1010" spc="1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3672116794-30"/>
          <p:cNvSpPr txBox="1"/>
          <p:nvPr/>
        </p:nvSpPr>
        <p:spPr>
          <a:xfrm>
            <a:off x="557213" y="1628849"/>
            <a:ext cx="3907631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spc="1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好友请求</a:t>
            </a: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：同意 / 拒绝</a:t>
            </a:r>
            <a:endParaRPr sz="1010" spc="1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3672116794-31"/>
          <p:cNvSpPr txBox="1"/>
          <p:nvPr/>
        </p:nvSpPr>
        <p:spPr>
          <a:xfrm>
            <a:off x="557213" y="1834530"/>
            <a:ext cx="3907631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spc="1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好友列表</a:t>
            </a: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：在线状态实时更新</a:t>
            </a:r>
            <a:endParaRPr sz="1010" spc="1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3672116794-32"/>
          <p:cNvSpPr txBox="1"/>
          <p:nvPr/>
        </p:nvSpPr>
        <p:spPr>
          <a:xfrm>
            <a:off x="557213" y="2083073"/>
            <a:ext cx="3907631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indent="100330" algn="l">
              <a:lnSpc>
                <a:spcPct val="100000"/>
              </a:lnSpc>
            </a:pP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绿色圆点 = 在线    </a:t>
            </a:r>
            <a:r>
              <a:rPr sz="78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</a:t>
            </a: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灰色圆点 = 离线</a:t>
            </a:r>
            <a:endParaRPr sz="1010" spc="1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3672116796-37"/>
          <p:cNvSpPr txBox="1"/>
          <p:nvPr/>
        </p:nvSpPr>
        <p:spPr>
          <a:xfrm>
            <a:off x="557213" y="2303041"/>
            <a:ext cx="3900488" cy="182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spc="1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 USER_STATUS_UPDATE 消息实时广播</a:t>
            </a:r>
            <a:endParaRPr sz="900" spc="11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3672116789-23"/>
          <p:cNvSpPr txBox="1"/>
          <p:nvPr/>
        </p:nvSpPr>
        <p:spPr>
          <a:xfrm>
            <a:off x="557213" y="2757339"/>
            <a:ext cx="3779044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🔍 AI 审查发现</a:t>
            </a:r>
            <a:endParaRPr sz="101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3672116788-21"/>
          <p:cNvSpPr txBox="1"/>
          <p:nvPr/>
        </p:nvSpPr>
        <p:spPr>
          <a:xfrm>
            <a:off x="4900613" y="1180281"/>
            <a:ext cx="3914775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📁 文件处理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3672116795-33"/>
          <p:cNvSpPr txBox="1"/>
          <p:nvPr/>
        </p:nvSpPr>
        <p:spPr>
          <a:xfrm>
            <a:off x="4900613" y="1423169"/>
            <a:ext cx="3907631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spc="1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图片</a:t>
            </a: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ZFile 图片目录  ·  </a:t>
            </a:r>
            <a:r>
              <a:rPr sz="1010" b="1" spc="1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</a:t>
            </a: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ZFile 文件目录</a:t>
            </a:r>
            <a:endParaRPr sz="1010" spc="1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3672116795-34"/>
          <p:cNvSpPr txBox="1"/>
          <p:nvPr/>
        </p:nvSpPr>
        <p:spPr>
          <a:xfrm>
            <a:off x="4900613" y="1628849"/>
            <a:ext cx="3907631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spc="1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OnlyOffice</a:t>
            </a: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在线预览 · 支持格式：</a:t>
            </a:r>
            <a:endParaRPr sz="1010" spc="1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3672116799-42"/>
          <p:cNvSpPr txBox="1"/>
          <p:nvPr/>
        </p:nvSpPr>
        <p:spPr>
          <a:xfrm>
            <a:off x="4986338" y="1877392"/>
            <a:ext cx="398934" cy="159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.docx</a:t>
            </a:r>
            <a:endParaRPr sz="780" spc="17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3672116800-44"/>
          <p:cNvSpPr txBox="1"/>
          <p:nvPr/>
        </p:nvSpPr>
        <p:spPr>
          <a:xfrm>
            <a:off x="5478140" y="1877392"/>
            <a:ext cx="344835" cy="159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.xlsx</a:t>
            </a:r>
            <a:endParaRPr sz="780" spc="17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3672116800-46"/>
          <p:cNvSpPr txBox="1"/>
          <p:nvPr/>
        </p:nvSpPr>
        <p:spPr>
          <a:xfrm>
            <a:off x="5915844" y="1877392"/>
            <a:ext cx="387772" cy="159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.pptx</a:t>
            </a:r>
            <a:endParaRPr sz="780" spc="17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3672116801-48"/>
          <p:cNvSpPr txBox="1"/>
          <p:nvPr/>
        </p:nvSpPr>
        <p:spPr>
          <a:xfrm>
            <a:off x="6396484" y="1877392"/>
            <a:ext cx="330919" cy="1599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17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.pdf</a:t>
            </a:r>
            <a:endParaRPr sz="780" spc="17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3672116789-24"/>
          <p:cNvSpPr txBox="1"/>
          <p:nvPr/>
        </p:nvSpPr>
        <p:spPr>
          <a:xfrm>
            <a:off x="4900613" y="2323133"/>
            <a:ext cx="3779044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文件上传流程</a:t>
            </a:r>
            <a:endParaRPr sz="101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3672116801-50"/>
          <p:cNvSpPr txBox="1"/>
          <p:nvPr/>
        </p:nvSpPr>
        <p:spPr>
          <a:xfrm>
            <a:off x="5043116" y="2696245"/>
            <a:ext cx="328613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3672116802-52"/>
          <p:cNvSpPr txBox="1"/>
          <p:nvPr/>
        </p:nvSpPr>
        <p:spPr>
          <a:xfrm>
            <a:off x="4957391" y="2904604"/>
            <a:ext cx="500063" cy="1199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选择文件</a:t>
            </a:r>
            <a:endParaRPr sz="7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3672116797-38"/>
          <p:cNvSpPr txBox="1"/>
          <p:nvPr/>
        </p:nvSpPr>
        <p:spPr>
          <a:xfrm>
            <a:off x="5528519" y="2728838"/>
            <a:ext cx="204564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3672116802-53"/>
          <p:cNvSpPr txBox="1"/>
          <p:nvPr/>
        </p:nvSpPr>
        <p:spPr>
          <a:xfrm>
            <a:off x="5818436" y="2696245"/>
            <a:ext cx="328613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3672116802-55"/>
          <p:cNvSpPr txBox="1"/>
          <p:nvPr/>
        </p:nvSpPr>
        <p:spPr>
          <a:xfrm>
            <a:off x="5677644" y="2904604"/>
            <a:ext cx="610121" cy="1199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 Token</a:t>
            </a:r>
            <a:endParaRPr sz="7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3672116797-39"/>
          <p:cNvSpPr txBox="1"/>
          <p:nvPr/>
        </p:nvSpPr>
        <p:spPr>
          <a:xfrm>
            <a:off x="6303839" y="2728838"/>
            <a:ext cx="204564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3672116802-56"/>
          <p:cNvSpPr txBox="1"/>
          <p:nvPr/>
        </p:nvSpPr>
        <p:spPr>
          <a:xfrm>
            <a:off x="6593756" y="2696245"/>
            <a:ext cx="328613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3672116803-58"/>
          <p:cNvSpPr txBox="1"/>
          <p:nvPr/>
        </p:nvSpPr>
        <p:spPr>
          <a:xfrm>
            <a:off x="6430640" y="2904604"/>
            <a:ext cx="654769" cy="11995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上传至 ZFile</a:t>
            </a:r>
            <a:endParaRPr sz="7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el-1783672116797-40"/>
          <p:cNvSpPr txBox="1"/>
          <p:nvPr/>
        </p:nvSpPr>
        <p:spPr>
          <a:xfrm>
            <a:off x="7079159" y="2728838"/>
            <a:ext cx="204564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el-1783672116803-59"/>
          <p:cNvSpPr txBox="1"/>
          <p:nvPr/>
        </p:nvSpPr>
        <p:spPr>
          <a:xfrm>
            <a:off x="7369076" y="2636267"/>
            <a:ext cx="328613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el-1783672116804-61"/>
          <p:cNvSpPr txBox="1"/>
          <p:nvPr/>
        </p:nvSpPr>
        <p:spPr>
          <a:xfrm>
            <a:off x="7247632" y="2844627"/>
            <a:ext cx="571500" cy="2399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935"/>
              </a:lnSpc>
            </a:pPr>
            <a:r>
              <a:rPr sz="7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返回文件链接</a:t>
            </a:r>
            <a:endParaRPr sz="7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el-1783672116797-41"/>
          <p:cNvSpPr txBox="1"/>
          <p:nvPr/>
        </p:nvSpPr>
        <p:spPr>
          <a:xfrm>
            <a:off x="7854479" y="2728838"/>
            <a:ext cx="204564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12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el-1783672116804-62"/>
          <p:cNvSpPr txBox="1"/>
          <p:nvPr/>
        </p:nvSpPr>
        <p:spPr>
          <a:xfrm>
            <a:off x="8144396" y="2636267"/>
            <a:ext cx="328613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78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78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el-1783672116804-64"/>
          <p:cNvSpPr txBox="1"/>
          <p:nvPr/>
        </p:nvSpPr>
        <p:spPr>
          <a:xfrm>
            <a:off x="8022953" y="2844627"/>
            <a:ext cx="571500" cy="2399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935"/>
              </a:lnSpc>
            </a:pPr>
            <a:r>
              <a:rPr sz="7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OnlyOffice 预览</a:t>
            </a:r>
            <a:endParaRPr sz="7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el-1783672116790-25"/>
          <p:cNvSpPr txBox="1"/>
          <p:nvPr/>
        </p:nvSpPr>
        <p:spPr>
          <a:xfrm>
            <a:off x="4900613" y="3456012"/>
            <a:ext cx="3779044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⚠️ 遇到的坑</a:t>
            </a:r>
            <a:endParaRPr sz="101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el-1783672116791-26"/>
          <p:cNvSpPr/>
          <p:nvPr/>
        </p:nvSpPr>
        <p:spPr>
          <a:xfrm>
            <a:off x="611014" y="3058567"/>
            <a:ext cx="35719" cy="35719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el-1783672116791-27"/>
          <p:cNvSpPr/>
          <p:nvPr/>
        </p:nvSpPr>
        <p:spPr>
          <a:xfrm>
            <a:off x="611014" y="3272879"/>
            <a:ext cx="35719" cy="35719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el-1783672116792-28"/>
          <p:cNvSpPr/>
          <p:nvPr/>
        </p:nvSpPr>
        <p:spPr>
          <a:xfrm>
            <a:off x="4954414" y="3757241"/>
            <a:ext cx="35719" cy="35719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el-1783672116787-19"/>
          <p:cNvSpPr txBox="1"/>
          <p:nvPr/>
        </p:nvSpPr>
        <p:spPr>
          <a:xfrm>
            <a:off x="707454" y="2993083"/>
            <a:ext cx="362165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好友请求未考虑并发 → 增加 </a:t>
            </a: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事务处理</a:t>
            </a: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确保原子性</a:t>
            </a:r>
            <a:endParaRPr sz="9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el-1783672116788-20"/>
          <p:cNvSpPr txBox="1"/>
          <p:nvPr/>
        </p:nvSpPr>
        <p:spPr>
          <a:xfrm>
            <a:off x="707454" y="3207395"/>
            <a:ext cx="362165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文件上传未限大小 → 增加 </a:t>
            </a: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10MB / 50MB</a:t>
            </a: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限制</a:t>
            </a:r>
            <a:endParaRPr sz="9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el-1783672116788-22"/>
          <p:cNvSpPr txBox="1"/>
          <p:nvPr/>
        </p:nvSpPr>
        <p:spPr>
          <a:xfrm>
            <a:off x="5050854" y="3691756"/>
            <a:ext cx="3564508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50"/>
              </a:lnSpc>
            </a:pP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UI 线程直接执行文件上传导致界面卡顿 → 改为 </a:t>
            </a: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异步任务</a:t>
            </a: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Platform.runLater()</a:t>
            </a: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更新 UI</a:t>
            </a:r>
            <a:endParaRPr sz="9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3672116881-2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3672116881-3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3672116882-4"/>
          <p:cNvSpPr txBox="1"/>
          <p:nvPr/>
        </p:nvSpPr>
        <p:spPr>
          <a:xfrm>
            <a:off x="400050" y="103584"/>
            <a:ext cx="914400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现场演示</a:t>
            </a:r>
            <a:endParaRPr sz="1570" b="1" spc="28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3672116882-5"/>
          <p:cNvSpPr txBox="1"/>
          <p:nvPr/>
        </p:nvSpPr>
        <p:spPr>
          <a:xfrm>
            <a:off x="8359304" y="167878"/>
            <a:ext cx="44179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16</a:t>
            </a:r>
            <a:endParaRPr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3672116884-7"/>
          <p:cNvSpPr txBox="1"/>
          <p:nvPr/>
        </p:nvSpPr>
        <p:spPr>
          <a:xfrm>
            <a:off x="400050" y="4900613"/>
            <a:ext cx="120096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 · 现场演示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3672116884-8"/>
          <p:cNvSpPr txBox="1"/>
          <p:nvPr/>
        </p:nvSpPr>
        <p:spPr>
          <a:xfrm>
            <a:off x="1722462" y="4900613"/>
            <a:ext cx="769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3672116884-9"/>
          <p:cNvSpPr txBox="1"/>
          <p:nvPr/>
        </p:nvSpPr>
        <p:spPr>
          <a:xfrm>
            <a:off x="1920850" y="4900613"/>
            <a:ext cx="567407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2026.07.10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3672116884-10"/>
          <p:cNvSpPr txBox="1"/>
          <p:nvPr/>
        </p:nvSpPr>
        <p:spPr>
          <a:xfrm>
            <a:off x="7860581" y="4910138"/>
            <a:ext cx="933376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学术答辩 · 严谨求实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3672116880-1"/>
          <p:cNvSpPr txBox="1"/>
          <p:nvPr/>
        </p:nvSpPr>
        <p:spPr>
          <a:xfrm>
            <a:off x="7743751" y="4143375"/>
            <a:ext cx="1400249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50" b="1" spc="225">
                <a:solidFill>
                  <a:srgbClr val="2563EB">
                    <a:alpha val="4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6750" b="1" spc="225">
              <a:solidFill>
                <a:srgbClr val="2563EB">
                  <a:alpha val="4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el-1783672116884-11"/>
          <p:cNvCxnSpPr/>
          <p:nvPr/>
        </p:nvCxnSpPr>
        <p:spPr>
          <a:xfrm>
            <a:off x="414338" y="1464469"/>
            <a:ext cx="914" cy="185738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3672116888-20"/>
          <p:cNvSpPr/>
          <p:nvPr/>
        </p:nvSpPr>
        <p:spPr>
          <a:xfrm>
            <a:off x="400050" y="1664494"/>
            <a:ext cx="2021681" cy="6215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3672116889-28"/>
          <p:cNvCxnSpPr/>
          <p:nvPr/>
        </p:nvCxnSpPr>
        <p:spPr>
          <a:xfrm>
            <a:off x="414338" y="1664494"/>
            <a:ext cx="914" cy="621506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3672116888-21"/>
          <p:cNvSpPr/>
          <p:nvPr/>
        </p:nvSpPr>
        <p:spPr>
          <a:xfrm>
            <a:off x="2507456" y="1664494"/>
            <a:ext cx="2021681" cy="6215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3672116889-29"/>
          <p:cNvCxnSpPr/>
          <p:nvPr/>
        </p:nvCxnSpPr>
        <p:spPr>
          <a:xfrm>
            <a:off x="2521744" y="1664494"/>
            <a:ext cx="914" cy="621506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3672116888-22"/>
          <p:cNvSpPr/>
          <p:nvPr/>
        </p:nvSpPr>
        <p:spPr>
          <a:xfrm>
            <a:off x="4614863" y="1664494"/>
            <a:ext cx="2021681" cy="6215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3672116890-30"/>
          <p:cNvCxnSpPr/>
          <p:nvPr/>
        </p:nvCxnSpPr>
        <p:spPr>
          <a:xfrm>
            <a:off x="4629150" y="1664494"/>
            <a:ext cx="914" cy="621506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3672116889-23"/>
          <p:cNvSpPr/>
          <p:nvPr/>
        </p:nvSpPr>
        <p:spPr>
          <a:xfrm>
            <a:off x="6722269" y="1664494"/>
            <a:ext cx="2021681" cy="6215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3672116890-31"/>
          <p:cNvCxnSpPr/>
          <p:nvPr/>
        </p:nvCxnSpPr>
        <p:spPr>
          <a:xfrm>
            <a:off x="6736556" y="1664494"/>
            <a:ext cx="914" cy="621506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3672116889-24"/>
          <p:cNvSpPr/>
          <p:nvPr/>
        </p:nvSpPr>
        <p:spPr>
          <a:xfrm>
            <a:off x="400050" y="2371725"/>
            <a:ext cx="2021681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3672116890-32"/>
          <p:cNvCxnSpPr/>
          <p:nvPr/>
        </p:nvCxnSpPr>
        <p:spPr>
          <a:xfrm>
            <a:off x="414338" y="2371725"/>
            <a:ext cx="914" cy="514350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3672116889-25"/>
          <p:cNvSpPr/>
          <p:nvPr/>
        </p:nvSpPr>
        <p:spPr>
          <a:xfrm>
            <a:off x="2507456" y="2371725"/>
            <a:ext cx="2021681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3" name="el-1783672116890-33"/>
          <p:cNvCxnSpPr/>
          <p:nvPr/>
        </p:nvCxnSpPr>
        <p:spPr>
          <a:xfrm>
            <a:off x="2521744" y="2371725"/>
            <a:ext cx="914" cy="514350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el-1783672116889-26"/>
          <p:cNvSpPr/>
          <p:nvPr/>
        </p:nvSpPr>
        <p:spPr>
          <a:xfrm>
            <a:off x="4614863" y="2371725"/>
            <a:ext cx="2021681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5" name="el-1783672116890-34"/>
          <p:cNvCxnSpPr/>
          <p:nvPr/>
        </p:nvCxnSpPr>
        <p:spPr>
          <a:xfrm>
            <a:off x="4629150" y="2371725"/>
            <a:ext cx="914" cy="514350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el-1783672116889-27"/>
          <p:cNvSpPr/>
          <p:nvPr/>
        </p:nvSpPr>
        <p:spPr>
          <a:xfrm>
            <a:off x="6722269" y="2371725"/>
            <a:ext cx="2021681" cy="5143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7" name="el-1783672116890-35"/>
          <p:cNvCxnSpPr/>
          <p:nvPr/>
        </p:nvCxnSpPr>
        <p:spPr>
          <a:xfrm>
            <a:off x="6736556" y="2371725"/>
            <a:ext cx="914" cy="514350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el-1783672116885-12"/>
          <p:cNvSpPr/>
          <p:nvPr/>
        </p:nvSpPr>
        <p:spPr>
          <a:xfrm>
            <a:off x="400050" y="3086100"/>
            <a:ext cx="4086225" cy="764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9" name="el-1783672116886-14"/>
          <p:cNvCxnSpPr/>
          <p:nvPr/>
        </p:nvCxnSpPr>
        <p:spPr>
          <a:xfrm>
            <a:off x="414338" y="3086100"/>
            <a:ext cx="914" cy="764381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-1783672116885-13"/>
          <p:cNvSpPr/>
          <p:nvPr/>
        </p:nvSpPr>
        <p:spPr>
          <a:xfrm>
            <a:off x="4657725" y="3086100"/>
            <a:ext cx="4086225" cy="764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31" name="el-1783672116886-15"/>
          <p:cNvCxnSpPr/>
          <p:nvPr/>
        </p:nvCxnSpPr>
        <p:spPr>
          <a:xfrm>
            <a:off x="4672013" y="3086100"/>
            <a:ext cx="914" cy="764381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el-1783672116884-6"/>
          <p:cNvSpPr txBox="1"/>
          <p:nvPr/>
        </p:nvSpPr>
        <p:spPr>
          <a:xfrm>
            <a:off x="528638" y="1464469"/>
            <a:ext cx="8286750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演示流程（8 个步骤）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3672116891-36"/>
          <p:cNvSpPr txBox="1"/>
          <p:nvPr/>
        </p:nvSpPr>
        <p:spPr>
          <a:xfrm>
            <a:off x="528638" y="1735931"/>
            <a:ext cx="18430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 1</a:t>
            </a:r>
            <a:endParaRPr sz="78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3672116891-37"/>
          <p:cNvSpPr txBox="1"/>
          <p:nvPr/>
        </p:nvSpPr>
        <p:spPr>
          <a:xfrm>
            <a:off x="528638" y="1914525"/>
            <a:ext cx="1793081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175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启动服务端，确认 WebSocket 正常运行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3672116892-38"/>
          <p:cNvSpPr txBox="1"/>
          <p:nvPr/>
        </p:nvSpPr>
        <p:spPr>
          <a:xfrm>
            <a:off x="2636044" y="1735931"/>
            <a:ext cx="18430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 2</a:t>
            </a:r>
            <a:endParaRPr sz="78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3672116892-39"/>
          <p:cNvSpPr txBox="1"/>
          <p:nvPr/>
        </p:nvSpPr>
        <p:spPr>
          <a:xfrm>
            <a:off x="2636044" y="1914525"/>
            <a:ext cx="184665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 A 连接 → 注册 → 登录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3672116892-40"/>
          <p:cNvSpPr txBox="1"/>
          <p:nvPr/>
        </p:nvSpPr>
        <p:spPr>
          <a:xfrm>
            <a:off x="4743450" y="1735931"/>
            <a:ext cx="18430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 3</a:t>
            </a:r>
            <a:endParaRPr sz="78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3672116892-41"/>
          <p:cNvSpPr txBox="1"/>
          <p:nvPr/>
        </p:nvSpPr>
        <p:spPr>
          <a:xfrm>
            <a:off x="4743450" y="1914525"/>
            <a:ext cx="184665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 B 连接 → 注册 → 登录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3672116892-42"/>
          <p:cNvSpPr txBox="1"/>
          <p:nvPr/>
        </p:nvSpPr>
        <p:spPr>
          <a:xfrm>
            <a:off x="6850856" y="1735931"/>
            <a:ext cx="18430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 4</a:t>
            </a:r>
            <a:endParaRPr sz="78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3672116892-43"/>
          <p:cNvSpPr txBox="1"/>
          <p:nvPr/>
        </p:nvSpPr>
        <p:spPr>
          <a:xfrm>
            <a:off x="6850856" y="1914525"/>
            <a:ext cx="184665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4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创建房间，B 加入房间</a:t>
            </a:r>
            <a:endParaRPr sz="84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3672116892-44"/>
          <p:cNvSpPr txBox="1"/>
          <p:nvPr/>
        </p:nvSpPr>
        <p:spPr>
          <a:xfrm>
            <a:off x="528638" y="2443163"/>
            <a:ext cx="18430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 5</a:t>
            </a:r>
            <a:endParaRPr sz="78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3672116892-45"/>
          <p:cNvSpPr txBox="1"/>
          <p:nvPr/>
        </p:nvSpPr>
        <p:spPr>
          <a:xfrm>
            <a:off x="528638" y="2621756"/>
            <a:ext cx="1843088" cy="1399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双方互发文本、图片、文件消息</a:t>
            </a:r>
            <a:endParaRPr sz="7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el-1783672116892-46"/>
          <p:cNvSpPr txBox="1"/>
          <p:nvPr/>
        </p:nvSpPr>
        <p:spPr>
          <a:xfrm>
            <a:off x="2636044" y="2443163"/>
            <a:ext cx="18430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 6</a:t>
            </a:r>
            <a:endParaRPr sz="78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el-1783672116892-47"/>
          <p:cNvSpPr txBox="1"/>
          <p:nvPr/>
        </p:nvSpPr>
        <p:spPr>
          <a:xfrm>
            <a:off x="2636044" y="2621756"/>
            <a:ext cx="1843088" cy="1399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演示好友添加与在线状态实时更新</a:t>
            </a:r>
            <a:endParaRPr sz="7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el-1783672116892-48"/>
          <p:cNvSpPr txBox="1"/>
          <p:nvPr/>
        </p:nvSpPr>
        <p:spPr>
          <a:xfrm>
            <a:off x="4743450" y="2443163"/>
            <a:ext cx="18430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 7</a:t>
            </a:r>
            <a:endParaRPr sz="78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el-1783672116892-49"/>
          <p:cNvSpPr txBox="1"/>
          <p:nvPr/>
        </p:nvSpPr>
        <p:spPr>
          <a:xfrm>
            <a:off x="4743450" y="2621756"/>
            <a:ext cx="1843088" cy="1399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文件在线预览（OnlyOffice 打开文档）</a:t>
            </a:r>
            <a:endParaRPr sz="7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el-1783672116892-50"/>
          <p:cNvSpPr txBox="1"/>
          <p:nvPr/>
        </p:nvSpPr>
        <p:spPr>
          <a:xfrm>
            <a:off x="6850856" y="2443163"/>
            <a:ext cx="1843088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 8</a:t>
            </a:r>
            <a:endParaRPr sz="78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el-1783672116892-51"/>
          <p:cNvSpPr txBox="1"/>
          <p:nvPr/>
        </p:nvSpPr>
        <p:spPr>
          <a:xfrm>
            <a:off x="6850856" y="2621756"/>
            <a:ext cx="1843088" cy="1399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断网后查看历史消息（离线缓存）</a:t>
            </a:r>
            <a:endParaRPr sz="78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el-1783672116887-17"/>
          <p:cNvSpPr txBox="1"/>
          <p:nvPr/>
        </p:nvSpPr>
        <p:spPr>
          <a:xfrm>
            <a:off x="557213" y="3178969"/>
            <a:ext cx="3857625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⚠️ 备选方案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el-1783672116888-18"/>
          <p:cNvSpPr txBox="1"/>
          <p:nvPr/>
        </p:nvSpPr>
        <p:spPr>
          <a:xfrm>
            <a:off x="557213" y="3414713"/>
            <a:ext cx="3850481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提前截好所有界面的清晰截图，演示出问题时用截图兜底，确保流程不断。</a:t>
            </a:r>
            <a:endParaRPr sz="9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el-1783672116888-19"/>
          <p:cNvSpPr txBox="1"/>
          <p:nvPr/>
        </p:nvSpPr>
        <p:spPr>
          <a:xfrm>
            <a:off x="4814888" y="3178969"/>
            <a:ext cx="3857625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📋 提前准备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el-1783672116887-16"/>
          <p:cNvSpPr txBox="1"/>
          <p:nvPr/>
        </p:nvSpPr>
        <p:spPr>
          <a:xfrm>
            <a:off x="4814888" y="3414713"/>
            <a:ext cx="3793331" cy="342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50"/>
              </a:lnSpc>
            </a:pP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服务端与数据预先启动完毕，</a:t>
            </a: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不要现场 build</a:t>
            </a: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；确认网络、ZFile、OnlyOffice 服务可用。</a:t>
            </a:r>
            <a:endParaRPr sz="9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3672116962-2"/>
          <p:cNvSpPr/>
          <p:nvPr/>
        </p:nvSpPr>
        <p:spPr>
          <a:xfrm>
            <a:off x="285750" y="857250"/>
            <a:ext cx="28575" cy="1143000"/>
          </a:xfrm>
          <a:prstGeom prst="roundRect">
            <a:avLst>
              <a:gd name="adj" fmla="val 50000"/>
            </a:avLst>
          </a:prstGeom>
          <a:solidFill>
            <a:srgbClr val="2563EB">
              <a:alpha val="3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3672116962-3"/>
          <p:cNvSpPr/>
          <p:nvPr/>
        </p:nvSpPr>
        <p:spPr>
          <a:xfrm>
            <a:off x="8779669" y="4257675"/>
            <a:ext cx="21431" cy="4572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95313"/>
                </a:lnTo>
                <a:close/>
              </a:path>
            </a:pathLst>
          </a:custGeom>
          <a:solidFill>
            <a:srgbClr val="E2E8F0">
              <a:alpha val="5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3672116962-4"/>
          <p:cNvSpPr/>
          <p:nvPr/>
        </p:nvSpPr>
        <p:spPr>
          <a:xfrm>
            <a:off x="8343900" y="4693444"/>
            <a:ext cx="457200" cy="2143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95313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2E8F0">
              <a:alpha val="5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3672116964-9"/>
          <p:cNvSpPr/>
          <p:nvPr/>
        </p:nvSpPr>
        <p:spPr>
          <a:xfrm>
            <a:off x="4314825" y="2910036"/>
            <a:ext cx="514350" cy="21431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3672116963-6"/>
          <p:cNvSpPr txBox="1"/>
          <p:nvPr/>
        </p:nvSpPr>
        <p:spPr>
          <a:xfrm>
            <a:off x="4317653" y="1892871"/>
            <a:ext cx="680145" cy="3771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700" b="1" spc="338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700" b="1" spc="338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3672116964-7"/>
          <p:cNvSpPr txBox="1"/>
          <p:nvPr/>
        </p:nvSpPr>
        <p:spPr>
          <a:xfrm>
            <a:off x="3964781" y="2412876"/>
            <a:ext cx="1328738" cy="2971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800" b="1" spc="113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总结与协作</a:t>
            </a:r>
            <a:endParaRPr sz="1800" b="1" spc="113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3672116964-8"/>
          <p:cNvSpPr txBox="1"/>
          <p:nvPr/>
        </p:nvSpPr>
        <p:spPr>
          <a:xfrm>
            <a:off x="3664297" y="3674418"/>
            <a:ext cx="1872555" cy="1476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 spc="56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 · 复盘与团队成长</a:t>
            </a:r>
            <a:endParaRPr sz="900" spc="56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3672116966-14"/>
          <p:cNvSpPr/>
          <p:nvPr/>
        </p:nvSpPr>
        <p:spPr>
          <a:xfrm>
            <a:off x="3203972" y="3302943"/>
            <a:ext cx="7144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3672116966-15"/>
          <p:cNvSpPr/>
          <p:nvPr/>
        </p:nvSpPr>
        <p:spPr>
          <a:xfrm>
            <a:off x="4225528" y="3302943"/>
            <a:ext cx="7144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3672116966-16"/>
          <p:cNvSpPr/>
          <p:nvPr/>
        </p:nvSpPr>
        <p:spPr>
          <a:xfrm>
            <a:off x="5518547" y="3302943"/>
            <a:ext cx="7144" cy="1143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3672116965-10"/>
          <p:cNvSpPr txBox="1"/>
          <p:nvPr/>
        </p:nvSpPr>
        <p:spPr>
          <a:xfrm>
            <a:off x="2496741" y="3274368"/>
            <a:ext cx="607219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56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项目亮点</a:t>
            </a:r>
            <a:endParaRPr sz="1010" spc="56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3672116965-11"/>
          <p:cNvSpPr txBox="1"/>
          <p:nvPr/>
        </p:nvSpPr>
        <p:spPr>
          <a:xfrm>
            <a:off x="3382566" y="3274368"/>
            <a:ext cx="7429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56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问题与解决</a:t>
            </a:r>
            <a:endParaRPr sz="1010" spc="56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3672116965-12"/>
          <p:cNvSpPr txBox="1"/>
          <p:nvPr/>
        </p:nvSpPr>
        <p:spPr>
          <a:xfrm>
            <a:off x="4404122" y="3274368"/>
            <a:ext cx="101441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56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遗留问题与展望</a:t>
            </a:r>
            <a:endParaRPr sz="1010" spc="56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3672116965-13"/>
          <p:cNvSpPr txBox="1"/>
          <p:nvPr/>
        </p:nvSpPr>
        <p:spPr>
          <a:xfrm>
            <a:off x="5697141" y="3274368"/>
            <a:ext cx="1014413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56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团队协作与收获</a:t>
            </a:r>
            <a:endParaRPr sz="1010" spc="56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3672116961-1"/>
          <p:cNvSpPr/>
          <p:nvPr/>
        </p:nvSpPr>
        <p:spPr>
          <a:xfrm>
            <a:off x="0" y="0"/>
            <a:ext cx="9144000" cy="571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1E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3672116963-5"/>
          <p:cNvSpPr/>
          <p:nvPr/>
        </p:nvSpPr>
        <p:spPr>
          <a:xfrm>
            <a:off x="7743825" y="278606"/>
            <a:ext cx="1000125" cy="14288"/>
          </a:xfrm>
          <a:prstGeom prst="roundRect">
            <a:avLst>
              <a:gd name="adj" fmla="val 50000"/>
            </a:avLst>
          </a:prstGeom>
          <a:solidFill>
            <a:srgbClr val="FFFFFF">
              <a:alpha val="2200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3672117031-2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3672117032-4"/>
          <p:cNvSpPr txBox="1"/>
          <p:nvPr/>
        </p:nvSpPr>
        <p:spPr>
          <a:xfrm>
            <a:off x="400050" y="103584"/>
            <a:ext cx="914400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项目亮点</a:t>
            </a:r>
            <a:endParaRPr sz="1570" b="1" spc="28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3672117032-5"/>
          <p:cNvSpPr txBox="1"/>
          <p:nvPr/>
        </p:nvSpPr>
        <p:spPr>
          <a:xfrm>
            <a:off x="8359304" y="167878"/>
            <a:ext cx="44179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16</a:t>
            </a:r>
            <a:endParaRPr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3672117031-1"/>
          <p:cNvSpPr txBox="1"/>
          <p:nvPr/>
        </p:nvSpPr>
        <p:spPr>
          <a:xfrm>
            <a:off x="7743751" y="4143375"/>
            <a:ext cx="1400249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50" b="1" spc="225">
                <a:solidFill>
                  <a:srgbClr val="2563EB">
                    <a:alpha val="4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6750" b="1" spc="225">
              <a:solidFill>
                <a:srgbClr val="2563EB">
                  <a:alpha val="4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el-1783672117032-3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3672117033-6"/>
          <p:cNvSpPr txBox="1"/>
          <p:nvPr/>
        </p:nvSpPr>
        <p:spPr>
          <a:xfrm>
            <a:off x="400050" y="4900613"/>
            <a:ext cx="120096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 · 项目亮点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3672117034-7"/>
          <p:cNvSpPr txBox="1"/>
          <p:nvPr/>
        </p:nvSpPr>
        <p:spPr>
          <a:xfrm>
            <a:off x="1722462" y="4900613"/>
            <a:ext cx="769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3672117034-8"/>
          <p:cNvSpPr txBox="1"/>
          <p:nvPr/>
        </p:nvSpPr>
        <p:spPr>
          <a:xfrm>
            <a:off x="1920850" y="4900613"/>
            <a:ext cx="567407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2026.07.10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3672117034-9"/>
          <p:cNvSpPr txBox="1"/>
          <p:nvPr/>
        </p:nvSpPr>
        <p:spPr>
          <a:xfrm>
            <a:off x="7860581" y="4910138"/>
            <a:ext cx="933376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学术答辩 · 严谨求实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3672117034-10"/>
          <p:cNvSpPr/>
          <p:nvPr/>
        </p:nvSpPr>
        <p:spPr>
          <a:xfrm>
            <a:off x="400050" y="1800225"/>
            <a:ext cx="2647950" cy="1714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AFC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3672117035-13"/>
          <p:cNvCxnSpPr/>
          <p:nvPr/>
        </p:nvCxnSpPr>
        <p:spPr>
          <a:xfrm>
            <a:off x="414338" y="1800225"/>
            <a:ext cx="914" cy="1714500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3672117035-11"/>
          <p:cNvSpPr/>
          <p:nvPr/>
        </p:nvSpPr>
        <p:spPr>
          <a:xfrm>
            <a:off x="3248025" y="1800225"/>
            <a:ext cx="2647950" cy="1714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AFC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3672117035-14"/>
          <p:cNvCxnSpPr/>
          <p:nvPr/>
        </p:nvCxnSpPr>
        <p:spPr>
          <a:xfrm>
            <a:off x="3262313" y="1800225"/>
            <a:ext cx="914" cy="1714500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3672117035-12"/>
          <p:cNvSpPr/>
          <p:nvPr/>
        </p:nvSpPr>
        <p:spPr>
          <a:xfrm>
            <a:off x="6096000" y="1800225"/>
            <a:ext cx="2647950" cy="1714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AFCFF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3672117035-15"/>
          <p:cNvCxnSpPr/>
          <p:nvPr/>
        </p:nvCxnSpPr>
        <p:spPr>
          <a:xfrm>
            <a:off x="6110288" y="1800225"/>
            <a:ext cx="914" cy="1714500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3672117036-16"/>
          <p:cNvSpPr txBox="1"/>
          <p:nvPr/>
        </p:nvSpPr>
        <p:spPr>
          <a:xfrm>
            <a:off x="557213" y="1800225"/>
            <a:ext cx="2569369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 spc="17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📋 契约先行，并行开发零冲突</a:t>
            </a:r>
            <a:endParaRPr sz="1230" b="1" spc="17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3672117036-17"/>
          <p:cNvSpPr txBox="1"/>
          <p:nvPr/>
        </p:nvSpPr>
        <p:spPr>
          <a:xfrm>
            <a:off x="3405188" y="1800225"/>
            <a:ext cx="2569369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 spc="17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🔄 多客户端实时协作</a:t>
            </a:r>
            <a:endParaRPr sz="1230" b="1" spc="17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3672117036-18"/>
          <p:cNvSpPr txBox="1"/>
          <p:nvPr/>
        </p:nvSpPr>
        <p:spPr>
          <a:xfrm>
            <a:off x="6253163" y="1800225"/>
            <a:ext cx="2569369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 spc="17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💾 本地缓存与离线体验</a:t>
            </a:r>
            <a:endParaRPr sz="1230" b="1" spc="17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3672117038-22"/>
          <p:cNvSpPr txBox="1"/>
          <p:nvPr/>
        </p:nvSpPr>
        <p:spPr>
          <a:xfrm>
            <a:off x="571500" y="2104504"/>
            <a:ext cx="174352" cy="205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3672117041-31"/>
          <p:cNvSpPr txBox="1"/>
          <p:nvPr/>
        </p:nvSpPr>
        <p:spPr>
          <a:xfrm>
            <a:off x="571500" y="2573015"/>
            <a:ext cx="174352" cy="205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3672117041-32"/>
          <p:cNvSpPr txBox="1"/>
          <p:nvPr/>
        </p:nvSpPr>
        <p:spPr>
          <a:xfrm>
            <a:off x="571500" y="3041526"/>
            <a:ext cx="174352" cy="205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3672117039-25"/>
          <p:cNvSpPr txBox="1"/>
          <p:nvPr/>
        </p:nvSpPr>
        <p:spPr>
          <a:xfrm>
            <a:off x="3419475" y="2104504"/>
            <a:ext cx="174352" cy="205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3672117042-33"/>
          <p:cNvSpPr txBox="1"/>
          <p:nvPr/>
        </p:nvSpPr>
        <p:spPr>
          <a:xfrm>
            <a:off x="3419475" y="2573015"/>
            <a:ext cx="174352" cy="205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3672117042-34"/>
          <p:cNvSpPr txBox="1"/>
          <p:nvPr/>
        </p:nvSpPr>
        <p:spPr>
          <a:xfrm>
            <a:off x="3419475" y="3041526"/>
            <a:ext cx="174352" cy="205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3672117040-28"/>
          <p:cNvSpPr txBox="1"/>
          <p:nvPr/>
        </p:nvSpPr>
        <p:spPr>
          <a:xfrm>
            <a:off x="6267450" y="2104504"/>
            <a:ext cx="174352" cy="205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3672117042-35"/>
          <p:cNvSpPr txBox="1"/>
          <p:nvPr/>
        </p:nvSpPr>
        <p:spPr>
          <a:xfrm>
            <a:off x="6267450" y="2573015"/>
            <a:ext cx="174352" cy="205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3672117043-36"/>
          <p:cNvSpPr txBox="1"/>
          <p:nvPr/>
        </p:nvSpPr>
        <p:spPr>
          <a:xfrm>
            <a:off x="6267450" y="3041526"/>
            <a:ext cx="174352" cy="205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3672117037-19"/>
          <p:cNvSpPr txBox="1"/>
          <p:nvPr/>
        </p:nvSpPr>
        <p:spPr>
          <a:xfrm>
            <a:off x="738708" y="2104504"/>
            <a:ext cx="2309292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编码前定义完整消息协议（</a:t>
            </a: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25种消息类型</a:t>
            </a: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01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3672117038-23"/>
          <p:cNvSpPr txBox="1"/>
          <p:nvPr/>
        </p:nvSpPr>
        <p:spPr>
          <a:xfrm>
            <a:off x="738708" y="2573015"/>
            <a:ext cx="2309292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各成员按契约独立开发，每半天集成一次</a:t>
            </a:r>
            <a:endParaRPr sz="101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3672117039-24"/>
          <p:cNvSpPr txBox="1"/>
          <p:nvPr/>
        </p:nvSpPr>
        <p:spPr>
          <a:xfrm>
            <a:off x="738708" y="3041526"/>
            <a:ext cx="2309292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通过消息类型前缀和文件归属确保接口兼容</a:t>
            </a:r>
            <a:endParaRPr sz="101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3672117037-20"/>
          <p:cNvSpPr txBox="1"/>
          <p:nvPr/>
        </p:nvSpPr>
        <p:spPr>
          <a:xfrm>
            <a:off x="3586684" y="2104504"/>
            <a:ext cx="2309292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 WebSocket 支持</a:t>
            </a: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多客户端并发连接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3672117039-26"/>
          <p:cNvSpPr txBox="1"/>
          <p:nvPr/>
        </p:nvSpPr>
        <p:spPr>
          <a:xfrm>
            <a:off x="3586684" y="2573015"/>
            <a:ext cx="2309292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MessageRouter 实现消息精准路由与广播</a:t>
            </a:r>
            <a:endParaRPr sz="101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3672117039-27"/>
          <p:cNvSpPr txBox="1"/>
          <p:nvPr/>
        </p:nvSpPr>
        <p:spPr>
          <a:xfrm>
            <a:off x="3586684" y="3041526"/>
            <a:ext cx="2309292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好友在线状态实时更新 · 房间内消息即时推送</a:t>
            </a:r>
            <a:endParaRPr sz="101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3672117038-21"/>
          <p:cNvSpPr txBox="1"/>
          <p:nvPr/>
        </p:nvSpPr>
        <p:spPr>
          <a:xfrm>
            <a:off x="6434659" y="2104504"/>
            <a:ext cx="2309292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SQLite 本地消息缓存，支持</a:t>
            </a: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离线查看历史消息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3672117040-29"/>
          <p:cNvSpPr txBox="1"/>
          <p:nvPr/>
        </p:nvSpPr>
        <p:spPr>
          <a:xfrm>
            <a:off x="6434659" y="2573015"/>
            <a:ext cx="2309292" cy="41136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15"/>
              </a:lnSpc>
            </a:pP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INSERT OR IGNORE + message_id 唯一约束实现智能去重</a:t>
            </a:r>
            <a:endParaRPr sz="101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3672117040-30"/>
          <p:cNvSpPr txBox="1"/>
          <p:nvPr/>
        </p:nvSpPr>
        <p:spPr>
          <a:xfrm>
            <a:off x="6434659" y="3041526"/>
            <a:ext cx="2373585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断网后仍可浏览已缓存的消息记录</a:t>
            </a:r>
            <a:endParaRPr sz="101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3672117113-2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3672117114-4"/>
          <p:cNvSpPr txBox="1"/>
          <p:nvPr/>
        </p:nvSpPr>
        <p:spPr>
          <a:xfrm>
            <a:off x="400050" y="103584"/>
            <a:ext cx="1728788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遇到的问题与解决</a:t>
            </a:r>
            <a:endParaRPr sz="1570" b="1" spc="28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3672117114-5"/>
          <p:cNvSpPr txBox="1"/>
          <p:nvPr/>
        </p:nvSpPr>
        <p:spPr>
          <a:xfrm>
            <a:off x="8359304" y="167878"/>
            <a:ext cx="44179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16</a:t>
            </a:r>
            <a:endParaRPr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3672117112-1"/>
          <p:cNvSpPr txBox="1"/>
          <p:nvPr/>
        </p:nvSpPr>
        <p:spPr>
          <a:xfrm>
            <a:off x="7684219" y="4129088"/>
            <a:ext cx="1459781" cy="9286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310" b="1" spc="338">
                <a:solidFill>
                  <a:srgbClr val="2563EB">
                    <a:alpha val="4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7310" b="1" spc="338">
              <a:solidFill>
                <a:srgbClr val="2563EB">
                  <a:alpha val="4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el-1783672117113-3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3672117117-11"/>
          <p:cNvSpPr txBox="1"/>
          <p:nvPr/>
        </p:nvSpPr>
        <p:spPr>
          <a:xfrm>
            <a:off x="400050" y="4900613"/>
            <a:ext cx="160101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 · 遇到的问题与解决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3672117117-12"/>
          <p:cNvSpPr txBox="1"/>
          <p:nvPr/>
        </p:nvSpPr>
        <p:spPr>
          <a:xfrm>
            <a:off x="2122512" y="4900613"/>
            <a:ext cx="769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3672117117-13"/>
          <p:cNvSpPr txBox="1"/>
          <p:nvPr/>
        </p:nvSpPr>
        <p:spPr>
          <a:xfrm>
            <a:off x="2320900" y="4900613"/>
            <a:ext cx="567407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2026.07.10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3672117117-14"/>
          <p:cNvSpPr txBox="1"/>
          <p:nvPr/>
        </p:nvSpPr>
        <p:spPr>
          <a:xfrm>
            <a:off x="7860581" y="4910138"/>
            <a:ext cx="933376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学术答辩 · 严谨求实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3672117114-6"/>
          <p:cNvSpPr/>
          <p:nvPr/>
        </p:nvSpPr>
        <p:spPr>
          <a:xfrm>
            <a:off x="400050" y="3598218"/>
            <a:ext cx="8343900" cy="41433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3672117115-7"/>
          <p:cNvCxnSpPr/>
          <p:nvPr/>
        </p:nvCxnSpPr>
        <p:spPr>
          <a:xfrm>
            <a:off x="414338" y="3598218"/>
            <a:ext cx="914" cy="414338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3672117117-15"/>
          <p:cNvCxnSpPr/>
          <p:nvPr/>
        </p:nvCxnSpPr>
        <p:spPr>
          <a:xfrm>
            <a:off x="414338" y="1302395"/>
            <a:ext cx="914" cy="185738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3672117118-18"/>
          <p:cNvSpPr/>
          <p:nvPr/>
        </p:nvSpPr>
        <p:spPr>
          <a:xfrm>
            <a:off x="400050" y="1588145"/>
            <a:ext cx="4029075" cy="5414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3672117119-24"/>
          <p:cNvCxnSpPr/>
          <p:nvPr/>
        </p:nvCxnSpPr>
        <p:spPr>
          <a:xfrm>
            <a:off x="414338" y="1588145"/>
            <a:ext cx="914" cy="541437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3672117118-19"/>
          <p:cNvSpPr/>
          <p:nvPr/>
        </p:nvSpPr>
        <p:spPr>
          <a:xfrm>
            <a:off x="400050" y="2229594"/>
            <a:ext cx="4029075" cy="5414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3672117119-25"/>
          <p:cNvCxnSpPr/>
          <p:nvPr/>
        </p:nvCxnSpPr>
        <p:spPr>
          <a:xfrm>
            <a:off x="414338" y="2229594"/>
            <a:ext cx="914" cy="541437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3672117118-20"/>
          <p:cNvSpPr/>
          <p:nvPr/>
        </p:nvSpPr>
        <p:spPr>
          <a:xfrm>
            <a:off x="400050" y="2871043"/>
            <a:ext cx="4029075" cy="5414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3672117119-26"/>
          <p:cNvCxnSpPr/>
          <p:nvPr/>
        </p:nvCxnSpPr>
        <p:spPr>
          <a:xfrm>
            <a:off x="414338" y="2871043"/>
            <a:ext cx="914" cy="541437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3672117117-16"/>
          <p:cNvCxnSpPr/>
          <p:nvPr/>
        </p:nvCxnSpPr>
        <p:spPr>
          <a:xfrm>
            <a:off x="4729163" y="1302395"/>
            <a:ext cx="914" cy="185738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3672117119-21"/>
          <p:cNvSpPr/>
          <p:nvPr/>
        </p:nvSpPr>
        <p:spPr>
          <a:xfrm>
            <a:off x="4714875" y="1588145"/>
            <a:ext cx="4029075" cy="5414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2" name="el-1783672117120-27"/>
          <p:cNvCxnSpPr/>
          <p:nvPr/>
        </p:nvCxnSpPr>
        <p:spPr>
          <a:xfrm>
            <a:off x="4729163" y="1588145"/>
            <a:ext cx="914" cy="541437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3672117119-22"/>
          <p:cNvSpPr/>
          <p:nvPr/>
        </p:nvSpPr>
        <p:spPr>
          <a:xfrm>
            <a:off x="4714875" y="2229594"/>
            <a:ext cx="4029075" cy="5414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4" name="el-1783672117120-28"/>
          <p:cNvCxnSpPr/>
          <p:nvPr/>
        </p:nvCxnSpPr>
        <p:spPr>
          <a:xfrm>
            <a:off x="4729163" y="2229594"/>
            <a:ext cx="914" cy="541437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-1783672117119-23"/>
          <p:cNvSpPr/>
          <p:nvPr/>
        </p:nvSpPr>
        <p:spPr>
          <a:xfrm>
            <a:off x="4714875" y="2871043"/>
            <a:ext cx="4029075" cy="54143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6" name="el-1783672117120-29"/>
          <p:cNvCxnSpPr/>
          <p:nvPr/>
        </p:nvCxnSpPr>
        <p:spPr>
          <a:xfrm>
            <a:off x="4729163" y="2871043"/>
            <a:ext cx="914" cy="541437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l-1783672117116-8"/>
          <p:cNvSpPr txBox="1"/>
          <p:nvPr/>
        </p:nvSpPr>
        <p:spPr>
          <a:xfrm>
            <a:off x="528638" y="1302395"/>
            <a:ext cx="3971925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⚠️ 技术坑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3672117123-36"/>
          <p:cNvSpPr txBox="1"/>
          <p:nvPr/>
        </p:nvSpPr>
        <p:spPr>
          <a:xfrm>
            <a:off x="542925" y="1673870"/>
            <a:ext cx="3832622" cy="169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连接状态同步问题</a:t>
            </a:r>
            <a:endParaRPr sz="9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3672117121-30"/>
          <p:cNvSpPr txBox="1"/>
          <p:nvPr/>
        </p:nvSpPr>
        <p:spPr>
          <a:xfrm>
            <a:off x="542925" y="1872407"/>
            <a:ext cx="38290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连接失败时 UI 状态未回退 → 增加</a:t>
            </a: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超时回调机制</a:t>
            </a:r>
            <a:endParaRPr sz="9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3672117123-37"/>
          <p:cNvSpPr txBox="1"/>
          <p:nvPr/>
        </p:nvSpPr>
        <p:spPr>
          <a:xfrm>
            <a:off x="542925" y="2315319"/>
            <a:ext cx="3832622" cy="169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UI 线程与网络线程冲突</a:t>
            </a:r>
            <a:endParaRPr sz="9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3672117121-31"/>
          <p:cNvSpPr txBox="1"/>
          <p:nvPr/>
        </p:nvSpPr>
        <p:spPr>
          <a:xfrm>
            <a:off x="542925" y="2513856"/>
            <a:ext cx="38290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文件上传卡界面 → 改为</a:t>
            </a: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异步任务 + Platform.runLater()</a:t>
            </a:r>
            <a:endParaRPr sz="9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3672117123-38"/>
          <p:cNvSpPr txBox="1"/>
          <p:nvPr/>
        </p:nvSpPr>
        <p:spPr>
          <a:xfrm>
            <a:off x="542925" y="2956768"/>
            <a:ext cx="3832622" cy="169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文件上传未限大小</a:t>
            </a:r>
            <a:endParaRPr sz="9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3672117122-32"/>
          <p:cNvSpPr txBox="1"/>
          <p:nvPr/>
        </p:nvSpPr>
        <p:spPr>
          <a:xfrm>
            <a:off x="542925" y="3155305"/>
            <a:ext cx="38290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大文件阻塞网络 → 增加 </a:t>
            </a: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10MB / 50MB 限制</a:t>
            </a:r>
            <a:endParaRPr sz="9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3672117116-9"/>
          <p:cNvSpPr txBox="1"/>
          <p:nvPr/>
        </p:nvSpPr>
        <p:spPr>
          <a:xfrm>
            <a:off x="4843463" y="1302395"/>
            <a:ext cx="3971925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🔍 AI 审查发现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3672117123-39"/>
          <p:cNvSpPr txBox="1"/>
          <p:nvPr/>
        </p:nvSpPr>
        <p:spPr>
          <a:xfrm>
            <a:off x="4857750" y="1673870"/>
            <a:ext cx="3832622" cy="169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密码明文传输</a:t>
            </a:r>
            <a:endParaRPr sz="9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3672117122-33"/>
          <p:cNvSpPr txBox="1"/>
          <p:nvPr/>
        </p:nvSpPr>
        <p:spPr>
          <a:xfrm>
            <a:off x="4857750" y="1872407"/>
            <a:ext cx="38290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审查后改为</a:t>
            </a: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哈希传输 + 参数化 SQL</a:t>
            </a:r>
            <a:r>
              <a:rPr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防注入</a:t>
            </a:r>
            <a:endParaRPr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3672117123-40"/>
          <p:cNvSpPr txBox="1"/>
          <p:nvPr/>
        </p:nvSpPr>
        <p:spPr>
          <a:xfrm>
            <a:off x="4857750" y="2315319"/>
            <a:ext cx="3832622" cy="169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头像未限制文件类型</a:t>
            </a:r>
            <a:endParaRPr sz="9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3672117122-34"/>
          <p:cNvSpPr txBox="1"/>
          <p:nvPr/>
        </p:nvSpPr>
        <p:spPr>
          <a:xfrm>
            <a:off x="4857750" y="2513856"/>
            <a:ext cx="38290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</a:t>
            </a: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白名单过滤</a:t>
            </a:r>
            <a:r>
              <a:rPr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（PNG / JPG / JPEG / GIF / BMP）</a:t>
            </a:r>
            <a:endParaRPr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3672117123-41"/>
          <p:cNvSpPr txBox="1"/>
          <p:nvPr/>
        </p:nvSpPr>
        <p:spPr>
          <a:xfrm>
            <a:off x="4857750" y="2956768"/>
            <a:ext cx="3832622" cy="1699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好友请求未考虑并发</a:t>
            </a:r>
            <a:endParaRPr sz="95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3672117123-35"/>
          <p:cNvSpPr txBox="1"/>
          <p:nvPr/>
        </p:nvSpPr>
        <p:spPr>
          <a:xfrm>
            <a:off x="4857750" y="3155305"/>
            <a:ext cx="3829050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</a:t>
            </a:r>
            <a:r>
              <a:rPr sz="9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事务处理</a:t>
            </a:r>
            <a:r>
              <a:rPr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确保原子性</a:t>
            </a:r>
            <a:endParaRPr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3672117117-17"/>
          <p:cNvSpPr txBox="1"/>
          <p:nvPr/>
        </p:nvSpPr>
        <p:spPr>
          <a:xfrm>
            <a:off x="571500" y="3698230"/>
            <a:ext cx="642938" cy="2143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方法总结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3672117117-10"/>
          <p:cNvSpPr txBox="1"/>
          <p:nvPr/>
        </p:nvSpPr>
        <p:spPr>
          <a:xfrm>
            <a:off x="1257300" y="3714304"/>
            <a:ext cx="7159526" cy="18216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“信任但验证”</a:t>
            </a: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AI 生成代码后，逐行审查关键逻辑（安全、事务、并发）， 使用纠错三步法：</a:t>
            </a: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定位问题 → 分析根因 → 验证修复</a:t>
            </a:r>
            <a:endParaRPr sz="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3672117152-2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3672117152-3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3672117153-4"/>
          <p:cNvSpPr txBox="1"/>
          <p:nvPr/>
        </p:nvSpPr>
        <p:spPr>
          <a:xfrm>
            <a:off x="400050" y="103584"/>
            <a:ext cx="1525191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遗留问题与展望</a:t>
            </a:r>
            <a:endParaRPr sz="1570" b="1" spc="28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3672117153-5"/>
          <p:cNvSpPr txBox="1"/>
          <p:nvPr/>
        </p:nvSpPr>
        <p:spPr>
          <a:xfrm>
            <a:off x="8359304" y="167878"/>
            <a:ext cx="44179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16</a:t>
            </a:r>
            <a:endParaRPr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3672117155-8"/>
          <p:cNvSpPr txBox="1"/>
          <p:nvPr/>
        </p:nvSpPr>
        <p:spPr>
          <a:xfrm>
            <a:off x="400050" y="4900613"/>
            <a:ext cx="1501006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 · 遗留问题与展望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3672117155-9"/>
          <p:cNvSpPr txBox="1"/>
          <p:nvPr/>
        </p:nvSpPr>
        <p:spPr>
          <a:xfrm>
            <a:off x="2022500" y="4900613"/>
            <a:ext cx="769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3672117155-10"/>
          <p:cNvSpPr txBox="1"/>
          <p:nvPr/>
        </p:nvSpPr>
        <p:spPr>
          <a:xfrm>
            <a:off x="2220888" y="4900613"/>
            <a:ext cx="567407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2026.07.10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3672117155-11"/>
          <p:cNvSpPr txBox="1"/>
          <p:nvPr/>
        </p:nvSpPr>
        <p:spPr>
          <a:xfrm>
            <a:off x="7860581" y="4910138"/>
            <a:ext cx="933376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学术答辩 · 诚实透明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3672117151-1"/>
          <p:cNvSpPr txBox="1"/>
          <p:nvPr/>
        </p:nvSpPr>
        <p:spPr>
          <a:xfrm>
            <a:off x="7743751" y="4143375"/>
            <a:ext cx="1400249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50" b="1" spc="225">
                <a:solidFill>
                  <a:srgbClr val="2563EB">
                    <a:alpha val="4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6750" b="1" spc="225">
              <a:solidFill>
                <a:srgbClr val="2563EB">
                  <a:alpha val="4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el-1783672117155-12"/>
          <p:cNvCxnSpPr/>
          <p:nvPr/>
        </p:nvCxnSpPr>
        <p:spPr>
          <a:xfrm>
            <a:off x="414338" y="1451595"/>
            <a:ext cx="914" cy="204267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3672117156-14"/>
          <p:cNvSpPr/>
          <p:nvPr/>
        </p:nvSpPr>
        <p:spPr>
          <a:xfrm>
            <a:off x="400050" y="1784449"/>
            <a:ext cx="4014788" cy="6072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3672117157-21"/>
          <p:cNvCxnSpPr/>
          <p:nvPr/>
        </p:nvCxnSpPr>
        <p:spPr>
          <a:xfrm>
            <a:off x="414338" y="1784449"/>
            <a:ext cx="914" cy="607219"/>
          </a:xfrm>
          <a:prstGeom prst="line">
            <a:avLst/>
          </a:prstGeom>
          <a:ln w="28575" cap="flat">
            <a:solidFill>
              <a:srgbClr val="94A3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3672117156-15"/>
          <p:cNvSpPr/>
          <p:nvPr/>
        </p:nvSpPr>
        <p:spPr>
          <a:xfrm>
            <a:off x="400050" y="2520256"/>
            <a:ext cx="4014788" cy="6072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3672117157-22"/>
          <p:cNvCxnSpPr/>
          <p:nvPr/>
        </p:nvCxnSpPr>
        <p:spPr>
          <a:xfrm>
            <a:off x="414338" y="2520256"/>
            <a:ext cx="914" cy="607219"/>
          </a:xfrm>
          <a:prstGeom prst="line">
            <a:avLst/>
          </a:prstGeom>
          <a:ln w="28575" cap="flat">
            <a:solidFill>
              <a:srgbClr val="94A3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3672117156-16"/>
          <p:cNvSpPr/>
          <p:nvPr/>
        </p:nvSpPr>
        <p:spPr>
          <a:xfrm>
            <a:off x="400050" y="3256062"/>
            <a:ext cx="4014788" cy="6072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3672117157-23"/>
          <p:cNvCxnSpPr/>
          <p:nvPr/>
        </p:nvCxnSpPr>
        <p:spPr>
          <a:xfrm>
            <a:off x="414338" y="3256062"/>
            <a:ext cx="914" cy="607219"/>
          </a:xfrm>
          <a:prstGeom prst="line">
            <a:avLst/>
          </a:prstGeom>
          <a:ln w="28575" cap="flat">
            <a:solidFill>
              <a:srgbClr val="94A3B8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3672117155-13"/>
          <p:cNvCxnSpPr/>
          <p:nvPr/>
        </p:nvCxnSpPr>
        <p:spPr>
          <a:xfrm>
            <a:off x="4743450" y="1083692"/>
            <a:ext cx="914" cy="204267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-1783672117156-17"/>
          <p:cNvSpPr/>
          <p:nvPr/>
        </p:nvSpPr>
        <p:spPr>
          <a:xfrm>
            <a:off x="4729163" y="1416546"/>
            <a:ext cx="4014788" cy="6072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0" name="el-1783672117157-24"/>
          <p:cNvCxnSpPr/>
          <p:nvPr/>
        </p:nvCxnSpPr>
        <p:spPr>
          <a:xfrm>
            <a:off x="4743450" y="1416546"/>
            <a:ext cx="914" cy="607219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3672117156-18"/>
          <p:cNvSpPr/>
          <p:nvPr/>
        </p:nvSpPr>
        <p:spPr>
          <a:xfrm>
            <a:off x="4729163" y="2152352"/>
            <a:ext cx="4014788" cy="6072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2" name="el-1783672117157-25"/>
          <p:cNvCxnSpPr/>
          <p:nvPr/>
        </p:nvCxnSpPr>
        <p:spPr>
          <a:xfrm>
            <a:off x="4743450" y="2152352"/>
            <a:ext cx="914" cy="607219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el-1783672117156-19"/>
          <p:cNvSpPr/>
          <p:nvPr/>
        </p:nvSpPr>
        <p:spPr>
          <a:xfrm>
            <a:off x="4729163" y="2888159"/>
            <a:ext cx="4014788" cy="6072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4" name="el-1783672117157-26"/>
          <p:cNvCxnSpPr/>
          <p:nvPr/>
        </p:nvCxnSpPr>
        <p:spPr>
          <a:xfrm>
            <a:off x="4743450" y="2888159"/>
            <a:ext cx="914" cy="607219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-1783672117157-20"/>
          <p:cNvSpPr/>
          <p:nvPr/>
        </p:nvSpPr>
        <p:spPr>
          <a:xfrm>
            <a:off x="4729163" y="3623965"/>
            <a:ext cx="4014788" cy="60721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1F5F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6" name="el-1783672117157-27"/>
          <p:cNvCxnSpPr/>
          <p:nvPr/>
        </p:nvCxnSpPr>
        <p:spPr>
          <a:xfrm>
            <a:off x="4743450" y="3623965"/>
            <a:ext cx="914" cy="607219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l-1783672117154-6"/>
          <p:cNvSpPr txBox="1"/>
          <p:nvPr/>
        </p:nvSpPr>
        <p:spPr>
          <a:xfrm>
            <a:off x="542925" y="1451595"/>
            <a:ext cx="3950494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遗留问题</a:t>
            </a:r>
            <a:endParaRPr sz="123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3672117159-29"/>
          <p:cNvSpPr txBox="1"/>
          <p:nvPr/>
        </p:nvSpPr>
        <p:spPr>
          <a:xfrm>
            <a:off x="557213" y="1884462"/>
            <a:ext cx="3793331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端到端加密未实现</a:t>
            </a:r>
            <a:endParaRPr sz="101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3672117158-28"/>
          <p:cNvSpPr txBox="1"/>
          <p:nvPr/>
        </p:nvSpPr>
        <p:spPr>
          <a:xfrm>
            <a:off x="557213" y="2120206"/>
            <a:ext cx="378618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消息传输未实现端到端加密，仅预留 </a:t>
            </a:r>
            <a:r>
              <a:rPr sz="900" b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iv</a:t>
            </a:r>
            <a:r>
              <a:rPr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字段扩展接口</a:t>
            </a:r>
            <a:endParaRPr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3672117159-30"/>
          <p:cNvSpPr txBox="1"/>
          <p:nvPr/>
        </p:nvSpPr>
        <p:spPr>
          <a:xfrm>
            <a:off x="557213" y="2620268"/>
            <a:ext cx="3793331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大文件无断点续传</a:t>
            </a:r>
            <a:endParaRPr sz="101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3672117159-31"/>
          <p:cNvSpPr txBox="1"/>
          <p:nvPr/>
        </p:nvSpPr>
        <p:spPr>
          <a:xfrm>
            <a:off x="557213" y="2856012"/>
            <a:ext cx="378618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大文件上传不支持断点续传，网络中断需重新上传</a:t>
            </a:r>
            <a:endParaRPr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3672117159-32"/>
          <p:cNvSpPr txBox="1"/>
          <p:nvPr/>
        </p:nvSpPr>
        <p:spPr>
          <a:xfrm>
            <a:off x="557213" y="3356074"/>
            <a:ext cx="3793331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本地缓存未支持全文搜索</a:t>
            </a:r>
            <a:endParaRPr sz="1010" b="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3672117159-33"/>
          <p:cNvSpPr txBox="1"/>
          <p:nvPr/>
        </p:nvSpPr>
        <p:spPr>
          <a:xfrm>
            <a:off x="557213" y="3591818"/>
            <a:ext cx="378618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SQLite 缓存仅支持按会话检索，未实现全文搜索功能</a:t>
            </a:r>
            <a:endParaRPr sz="9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3672117155-7"/>
          <p:cNvSpPr txBox="1"/>
          <p:nvPr/>
        </p:nvSpPr>
        <p:spPr>
          <a:xfrm>
            <a:off x="4872038" y="1083692"/>
            <a:ext cx="3950494" cy="20426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3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改进方向</a:t>
            </a:r>
            <a:endParaRPr sz="123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3672117159-34"/>
          <p:cNvSpPr txBox="1"/>
          <p:nvPr/>
        </p:nvSpPr>
        <p:spPr>
          <a:xfrm>
            <a:off x="4886325" y="1516559"/>
            <a:ext cx="3793331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实现端到端消息加密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3672117159-35"/>
          <p:cNvSpPr txBox="1"/>
          <p:nvPr/>
        </p:nvSpPr>
        <p:spPr>
          <a:xfrm>
            <a:off x="4886325" y="1752302"/>
            <a:ext cx="378618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基于预留 iv 字段，集成加密协议保障通信安全</a:t>
            </a:r>
            <a:endParaRPr sz="9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3672117159-36"/>
          <p:cNvSpPr txBox="1"/>
          <p:nvPr/>
        </p:nvSpPr>
        <p:spPr>
          <a:xfrm>
            <a:off x="4886325" y="2252365"/>
            <a:ext cx="3793331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引入文件断点续传机制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el-1783672117159-37"/>
          <p:cNvSpPr txBox="1"/>
          <p:nvPr/>
        </p:nvSpPr>
        <p:spPr>
          <a:xfrm>
            <a:off x="4886325" y="2488109"/>
            <a:ext cx="378618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支持网络中断后恢复传输，提升大文件上传体验</a:t>
            </a:r>
            <a:endParaRPr sz="9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el-1783672117159-38"/>
          <p:cNvSpPr txBox="1"/>
          <p:nvPr/>
        </p:nvSpPr>
        <p:spPr>
          <a:xfrm>
            <a:off x="4886325" y="2988171"/>
            <a:ext cx="3793331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SQLite FTS 扩展搜索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el-1783672117159-39"/>
          <p:cNvSpPr txBox="1"/>
          <p:nvPr/>
        </p:nvSpPr>
        <p:spPr>
          <a:xfrm>
            <a:off x="4886325" y="3223915"/>
            <a:ext cx="378618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 SQLite 全文检索扩展，实现本地消息快速搜索</a:t>
            </a:r>
            <a:endParaRPr sz="9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el-1783672117159-40"/>
          <p:cNvSpPr txBox="1"/>
          <p:nvPr/>
        </p:nvSpPr>
        <p:spPr>
          <a:xfrm>
            <a:off x="4886325" y="3723977"/>
            <a:ext cx="3793331" cy="1928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增加群组管理功能</a:t>
            </a:r>
            <a:endParaRPr sz="101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el-1783672117159-41"/>
          <p:cNvSpPr txBox="1"/>
          <p:nvPr/>
        </p:nvSpPr>
        <p:spPr>
          <a:xfrm>
            <a:off x="4886325" y="3959721"/>
            <a:ext cx="3786188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群公告、踢人、禁言等高级群组管理能力</a:t>
            </a:r>
            <a:endParaRPr sz="90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3672117237-2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3672117237-3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3672117239-4"/>
          <p:cNvSpPr txBox="1"/>
          <p:nvPr/>
        </p:nvSpPr>
        <p:spPr>
          <a:xfrm>
            <a:off x="400050" y="103584"/>
            <a:ext cx="1932384" cy="300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28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团队协作与个人收获</a:t>
            </a:r>
            <a:endParaRPr sz="1570" b="1" spc="28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3672117239-5"/>
          <p:cNvSpPr txBox="1"/>
          <p:nvPr/>
        </p:nvSpPr>
        <p:spPr>
          <a:xfrm>
            <a:off x="8359304" y="167878"/>
            <a:ext cx="441796" cy="1714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16</a:t>
            </a:r>
            <a:endParaRPr sz="9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3672117243-8"/>
          <p:cNvSpPr txBox="1"/>
          <p:nvPr/>
        </p:nvSpPr>
        <p:spPr>
          <a:xfrm>
            <a:off x="400050" y="4900613"/>
            <a:ext cx="1200969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 · 团队协作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3672117243-9"/>
          <p:cNvSpPr txBox="1"/>
          <p:nvPr/>
        </p:nvSpPr>
        <p:spPr>
          <a:xfrm>
            <a:off x="1722462" y="4900613"/>
            <a:ext cx="76944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3672117243-10"/>
          <p:cNvSpPr txBox="1"/>
          <p:nvPr/>
        </p:nvSpPr>
        <p:spPr>
          <a:xfrm>
            <a:off x="1920850" y="4900613"/>
            <a:ext cx="567407" cy="15001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2026.07.10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3672117243-11"/>
          <p:cNvSpPr txBox="1"/>
          <p:nvPr/>
        </p:nvSpPr>
        <p:spPr>
          <a:xfrm>
            <a:off x="7860581" y="4910138"/>
            <a:ext cx="933376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学术答辩 · 严谨求实</a:t>
            </a:r>
            <a:endParaRPr sz="78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3672117236-1"/>
          <p:cNvSpPr txBox="1"/>
          <p:nvPr/>
        </p:nvSpPr>
        <p:spPr>
          <a:xfrm>
            <a:off x="7743751" y="4143375"/>
            <a:ext cx="1400249" cy="8572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6750" b="1" spc="225">
                <a:solidFill>
                  <a:srgbClr val="2563EB">
                    <a:alpha val="4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6750" b="1" spc="225">
              <a:solidFill>
                <a:srgbClr val="2563EB">
                  <a:alpha val="4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3672117240-6"/>
          <p:cNvSpPr/>
          <p:nvPr/>
        </p:nvSpPr>
        <p:spPr>
          <a:xfrm>
            <a:off x="400050" y="2220218"/>
            <a:ext cx="8343900" cy="1714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3672117241-7"/>
          <p:cNvCxnSpPr/>
          <p:nvPr/>
        </p:nvCxnSpPr>
        <p:spPr>
          <a:xfrm>
            <a:off x="414338" y="2220218"/>
            <a:ext cx="914" cy="1714500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3672117244-13"/>
          <p:cNvCxnSpPr/>
          <p:nvPr/>
        </p:nvCxnSpPr>
        <p:spPr>
          <a:xfrm>
            <a:off x="414338" y="1380232"/>
            <a:ext cx="914" cy="668536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3672117245-14"/>
          <p:cNvCxnSpPr/>
          <p:nvPr/>
        </p:nvCxnSpPr>
        <p:spPr>
          <a:xfrm>
            <a:off x="4700588" y="1380232"/>
            <a:ext cx="914" cy="668536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3672117248-17"/>
          <p:cNvCxnSpPr/>
          <p:nvPr/>
        </p:nvCxnSpPr>
        <p:spPr>
          <a:xfrm>
            <a:off x="571500" y="2988171"/>
            <a:ext cx="3900488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-1783672117248-18"/>
          <p:cNvCxnSpPr/>
          <p:nvPr/>
        </p:nvCxnSpPr>
        <p:spPr>
          <a:xfrm>
            <a:off x="4700588" y="2988171"/>
            <a:ext cx="3900488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3672117248-19"/>
          <p:cNvCxnSpPr/>
          <p:nvPr/>
        </p:nvCxnSpPr>
        <p:spPr>
          <a:xfrm>
            <a:off x="571500" y="3409652"/>
            <a:ext cx="3900488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3672117247-15"/>
          <p:cNvSpPr txBox="1"/>
          <p:nvPr/>
        </p:nvSpPr>
        <p:spPr>
          <a:xfrm>
            <a:off x="557213" y="1380232"/>
            <a:ext cx="3971925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🤝 契约先行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3672117250-20"/>
          <p:cNvSpPr txBox="1"/>
          <p:nvPr/>
        </p:nvSpPr>
        <p:spPr>
          <a:xfrm>
            <a:off x="557213" y="1623120"/>
            <a:ext cx="3964781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定义协议 → 独立开发 → </a:t>
            </a:r>
            <a:r>
              <a:rPr sz="1010" b="1" spc="1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每半天集成</a:t>
            </a:r>
            <a:endParaRPr sz="1010" b="1" spc="1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3672117250-22"/>
          <p:cNvSpPr txBox="1"/>
          <p:nvPr/>
        </p:nvSpPr>
        <p:spPr>
          <a:xfrm>
            <a:off x="557213" y="1843088"/>
            <a:ext cx="3964781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四名组员并行开发不互相等待，项目管理效率大幅提升</a:t>
            </a:r>
            <a:endParaRPr sz="1010" spc="1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3672117247-16"/>
          <p:cNvSpPr txBox="1"/>
          <p:nvPr/>
        </p:nvSpPr>
        <p:spPr>
          <a:xfrm>
            <a:off x="4843463" y="1380232"/>
            <a:ext cx="3971925" cy="1857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🔍 信任但验证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3672117251-23"/>
          <p:cNvSpPr txBox="1"/>
          <p:nvPr/>
        </p:nvSpPr>
        <p:spPr>
          <a:xfrm>
            <a:off x="4843463" y="1623120"/>
            <a:ext cx="3964781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生成代码 → 逐行审查关键逻辑（安全、事务、并发）</a:t>
            </a:r>
            <a:endParaRPr sz="1010" spc="1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3672117250-21"/>
          <p:cNvSpPr txBox="1"/>
          <p:nvPr/>
        </p:nvSpPr>
        <p:spPr>
          <a:xfrm>
            <a:off x="4843463" y="1843088"/>
            <a:ext cx="3964781" cy="205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10" b="1" spc="1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纠错三步法</a:t>
            </a:r>
            <a:r>
              <a:rPr sz="1010" spc="1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：定位问题 → 分析根因 → 验证修复</a:t>
            </a:r>
            <a:endParaRPr sz="1010" spc="11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3672117243-12"/>
          <p:cNvSpPr txBox="1"/>
          <p:nvPr/>
        </p:nvSpPr>
        <p:spPr>
          <a:xfrm>
            <a:off x="571500" y="2320231"/>
            <a:ext cx="8101013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17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📌 个人收获 · 每人一句</a:t>
            </a:r>
            <a:endParaRPr sz="1120" b="1" spc="17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3672117252-28"/>
          <p:cNvSpPr txBox="1"/>
          <p:nvPr/>
        </p:nvSpPr>
        <p:spPr>
          <a:xfrm>
            <a:off x="571500" y="2605981"/>
            <a:ext cx="489347" cy="1821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吕林涵</a:t>
            </a:r>
            <a:endParaRPr sz="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3672117252-29"/>
          <p:cNvSpPr txBox="1"/>
          <p:nvPr/>
        </p:nvSpPr>
        <p:spPr>
          <a:xfrm>
            <a:off x="1017531" y="2605997"/>
            <a:ext cx="3583864" cy="3822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契约先行让四名组员并行开发不互相等待，项目管理效率大幅提升</a:t>
            </a:r>
            <a:r>
              <a:rPr lang="zh-CN" altLang="en-US"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，掌握 </a:t>
            </a:r>
            <a:r>
              <a:rPr lang="en-US" altLang="zh-CN"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JSON </a:t>
            </a:r>
            <a:r>
              <a:rPr lang="zh-CN" altLang="en-US"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序列化/反序列化 实践，理解 </a:t>
            </a:r>
            <a:r>
              <a:rPr lang="en-US" altLang="zh-CN"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PreparedStatement </a:t>
            </a:r>
            <a:r>
              <a:rPr lang="zh-CN" altLang="en-US"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防注入</a:t>
            </a:r>
            <a:endParaRPr sz="9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3672117252-30"/>
          <p:cNvSpPr txBox="1"/>
          <p:nvPr/>
        </p:nvSpPr>
        <p:spPr>
          <a:xfrm>
            <a:off x="4700588" y="2605981"/>
            <a:ext cx="489347" cy="1821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孔德桥</a:t>
            </a:r>
            <a:endParaRPr sz="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3672117251-24"/>
          <p:cNvSpPr txBox="1"/>
          <p:nvPr/>
        </p:nvSpPr>
        <p:spPr>
          <a:xfrm>
            <a:off x="5200650" y="2605981"/>
            <a:ext cx="3400425" cy="36433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学会 FXML+CSS 实现现代化 UI，理解 </a:t>
            </a: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WebSocket 状态机</a:t>
            </a: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管理</a:t>
            </a:r>
            <a:endParaRPr sz="9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3672117252-31"/>
          <p:cNvSpPr txBox="1"/>
          <p:nvPr/>
        </p:nvSpPr>
        <p:spPr>
          <a:xfrm>
            <a:off x="571500" y="3216652"/>
            <a:ext cx="396230" cy="23454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康佳兆</a:t>
            </a:r>
            <a:endParaRPr sz="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3672117251-25"/>
          <p:cNvSpPr txBox="1"/>
          <p:nvPr/>
        </p:nvSpPr>
        <p:spPr>
          <a:xfrm>
            <a:off x="1071571" y="3216652"/>
            <a:ext cx="3292293" cy="2345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 JavaFX 消息气泡自定义渲染，学会 </a:t>
            </a: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SQLite 缓存与去重</a:t>
            </a:r>
            <a:endParaRPr sz="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3672117252-32"/>
          <p:cNvSpPr txBox="1"/>
          <p:nvPr/>
        </p:nvSpPr>
        <p:spPr>
          <a:xfrm>
            <a:off x="4700588" y="3209849"/>
            <a:ext cx="489347" cy="1998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00000"/>
              </a:lnSpc>
            </a:pPr>
            <a:r>
              <a:rPr lang="zh-CN" altLang="en-US"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毛嘉文</a:t>
            </a:r>
            <a:endParaRPr sz="9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3672117251-26"/>
          <p:cNvSpPr txBox="1"/>
          <p:nvPr/>
        </p:nvSpPr>
        <p:spPr>
          <a:xfrm>
            <a:off x="5200650" y="3216652"/>
            <a:ext cx="3400425" cy="1822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25"/>
              </a:lnSpc>
            </a:pP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学会 </a:t>
            </a:r>
            <a:r>
              <a:rPr sz="9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ZFile API</a:t>
            </a:r>
            <a:r>
              <a:rPr sz="95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集成和 OnlyOffice 嵌入，理解 Token 认证机制</a:t>
            </a:r>
            <a:endParaRPr sz="95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3672117257-1"/>
          <p:cNvSpPr/>
          <p:nvPr/>
        </p:nvSpPr>
        <p:spPr>
          <a:xfrm>
            <a:off x="0" y="3571875"/>
            <a:ext cx="1143000" cy="14287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100000" y="50000"/>
                </a:moveTo>
                <a:lnTo>
                  <a:pt x="99700" y="54900"/>
                </a:lnTo>
                <a:lnTo>
                  <a:pt x="98800" y="59753"/>
                </a:lnTo>
                <a:lnTo>
                  <a:pt x="97308" y="64513"/>
                </a:lnTo>
                <a:lnTo>
                  <a:pt x="95242" y="69133"/>
                </a:lnTo>
                <a:lnTo>
                  <a:pt x="92617" y="73567"/>
                </a:lnTo>
                <a:lnTo>
                  <a:pt x="89467" y="77780"/>
                </a:lnTo>
                <a:lnTo>
                  <a:pt x="85817" y="81720"/>
                </a:lnTo>
                <a:lnTo>
                  <a:pt x="81692" y="85353"/>
                </a:lnTo>
                <a:lnTo>
                  <a:pt x="77150" y="88653"/>
                </a:lnTo>
                <a:lnTo>
                  <a:pt x="72225" y="91573"/>
                </a:lnTo>
                <a:lnTo>
                  <a:pt x="66958" y="94093"/>
                </a:lnTo>
                <a:lnTo>
                  <a:pt x="61417" y="96193"/>
                </a:lnTo>
                <a:lnTo>
                  <a:pt x="55642" y="97847"/>
                </a:lnTo>
                <a:lnTo>
                  <a:pt x="49692" y="99040"/>
                </a:lnTo>
                <a:lnTo>
                  <a:pt x="43625" y="99760"/>
                </a:lnTo>
                <a:lnTo>
                  <a:pt x="37500" y="100000"/>
                </a:lnTo>
                <a:lnTo>
                  <a:pt x="31375" y="99760"/>
                </a:lnTo>
                <a:lnTo>
                  <a:pt x="25308" y="99040"/>
                </a:lnTo>
                <a:lnTo>
                  <a:pt x="19358" y="97847"/>
                </a:lnTo>
                <a:lnTo>
                  <a:pt x="13583" y="96193"/>
                </a:lnTo>
                <a:lnTo>
                  <a:pt x="8042" y="94093"/>
                </a:lnTo>
                <a:lnTo>
                  <a:pt x="2775" y="91573"/>
                </a:lnTo>
                <a:lnTo>
                  <a:pt x="0" y="89927"/>
                </a:lnTo>
                <a:lnTo>
                  <a:pt x="0" y="10073"/>
                </a:lnTo>
                <a:lnTo>
                  <a:pt x="2775" y="8427"/>
                </a:lnTo>
                <a:lnTo>
                  <a:pt x="8042" y="5907"/>
                </a:lnTo>
                <a:lnTo>
                  <a:pt x="13583" y="3807"/>
                </a:lnTo>
                <a:lnTo>
                  <a:pt x="19358" y="2153"/>
                </a:lnTo>
                <a:lnTo>
                  <a:pt x="25308" y="960"/>
                </a:lnTo>
                <a:lnTo>
                  <a:pt x="31375" y="240"/>
                </a:lnTo>
                <a:lnTo>
                  <a:pt x="37500" y="0"/>
                </a:lnTo>
                <a:lnTo>
                  <a:pt x="43625" y="240"/>
                </a:lnTo>
                <a:lnTo>
                  <a:pt x="49692" y="960"/>
                </a:lnTo>
                <a:lnTo>
                  <a:pt x="55642" y="2153"/>
                </a:lnTo>
                <a:lnTo>
                  <a:pt x="61417" y="3807"/>
                </a:lnTo>
                <a:lnTo>
                  <a:pt x="66958" y="5907"/>
                </a:lnTo>
                <a:lnTo>
                  <a:pt x="72225" y="8427"/>
                </a:lnTo>
                <a:lnTo>
                  <a:pt x="77150" y="11347"/>
                </a:lnTo>
                <a:lnTo>
                  <a:pt x="81692" y="14647"/>
                </a:lnTo>
                <a:lnTo>
                  <a:pt x="85817" y="18280"/>
                </a:lnTo>
                <a:lnTo>
                  <a:pt x="89467" y="22220"/>
                </a:lnTo>
                <a:lnTo>
                  <a:pt x="92617" y="26433"/>
                </a:lnTo>
                <a:lnTo>
                  <a:pt x="95242" y="30867"/>
                </a:lnTo>
                <a:lnTo>
                  <a:pt x="97308" y="35487"/>
                </a:lnTo>
                <a:lnTo>
                  <a:pt x="98800" y="40247"/>
                </a:lnTo>
                <a:lnTo>
                  <a:pt x="99700" y="45100"/>
                </a:lnTo>
                <a:close/>
              </a:path>
            </a:pathLst>
          </a:custGeom>
          <a:solidFill>
            <a:srgbClr val="F1F5F9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l-1783672117257-2"/>
          <p:cNvSpPr/>
          <p:nvPr/>
        </p:nvSpPr>
        <p:spPr>
          <a:xfrm>
            <a:off x="8001000" y="714375"/>
            <a:ext cx="1000125" cy="1000125"/>
          </a:xfrm>
          <a:prstGeom prst="ellipse">
            <a:avLst/>
          </a:prstGeom>
          <a:solidFill>
            <a:srgbClr val="F1F5F9">
              <a:alpha val="4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el-1783672117268-36"/>
          <p:cNvSpPr/>
          <p:nvPr/>
        </p:nvSpPr>
        <p:spPr>
          <a:xfrm>
            <a:off x="0" y="0"/>
            <a:ext cx="28575" cy="51435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3672117258-3"/>
          <p:cNvCxnSpPr/>
          <p:nvPr/>
        </p:nvCxnSpPr>
        <p:spPr>
          <a:xfrm>
            <a:off x="0" y="510778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3672117258-4"/>
          <p:cNvCxnSpPr/>
          <p:nvPr/>
        </p:nvCxnSpPr>
        <p:spPr>
          <a:xfrm>
            <a:off x="0" y="4804172"/>
            <a:ext cx="9144000" cy="914"/>
          </a:xfrm>
          <a:prstGeom prst="line">
            <a:avLst/>
          </a:prstGeom>
          <a:ln w="7144" cap="flat">
            <a:solidFill>
              <a:srgbClr val="E2E8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3672117263-12"/>
          <p:cNvSpPr/>
          <p:nvPr/>
        </p:nvSpPr>
        <p:spPr>
          <a:xfrm>
            <a:off x="428625" y="2021681"/>
            <a:ext cx="4014788" cy="6000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3672117264-18"/>
          <p:cNvCxnSpPr/>
          <p:nvPr/>
        </p:nvCxnSpPr>
        <p:spPr>
          <a:xfrm>
            <a:off x="442913" y="2021681"/>
            <a:ext cx="914" cy="600075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3672117263-13"/>
          <p:cNvSpPr/>
          <p:nvPr/>
        </p:nvSpPr>
        <p:spPr>
          <a:xfrm>
            <a:off x="4729163" y="2021681"/>
            <a:ext cx="4014788" cy="6000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0" name="el-1783672117264-19"/>
          <p:cNvCxnSpPr/>
          <p:nvPr/>
        </p:nvCxnSpPr>
        <p:spPr>
          <a:xfrm>
            <a:off x="4743450" y="2021681"/>
            <a:ext cx="914" cy="600075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3672117264-14"/>
          <p:cNvSpPr/>
          <p:nvPr/>
        </p:nvSpPr>
        <p:spPr>
          <a:xfrm>
            <a:off x="428625" y="2736056"/>
            <a:ext cx="4014788" cy="6000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2" name="el-1783672117264-20"/>
          <p:cNvCxnSpPr/>
          <p:nvPr/>
        </p:nvCxnSpPr>
        <p:spPr>
          <a:xfrm>
            <a:off x="442913" y="2736056"/>
            <a:ext cx="914" cy="600075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3672117264-15"/>
          <p:cNvSpPr/>
          <p:nvPr/>
        </p:nvSpPr>
        <p:spPr>
          <a:xfrm>
            <a:off x="4729163" y="2736056"/>
            <a:ext cx="4014788" cy="6000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3672117264-21"/>
          <p:cNvCxnSpPr/>
          <p:nvPr/>
        </p:nvCxnSpPr>
        <p:spPr>
          <a:xfrm>
            <a:off x="4743450" y="2736056"/>
            <a:ext cx="914" cy="600075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3672117264-16"/>
          <p:cNvSpPr/>
          <p:nvPr/>
        </p:nvSpPr>
        <p:spPr>
          <a:xfrm>
            <a:off x="428625" y="3450431"/>
            <a:ext cx="4014788" cy="6000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3672117264-22"/>
          <p:cNvCxnSpPr/>
          <p:nvPr/>
        </p:nvCxnSpPr>
        <p:spPr>
          <a:xfrm>
            <a:off x="442913" y="3450431"/>
            <a:ext cx="914" cy="600075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3672117264-17"/>
          <p:cNvSpPr/>
          <p:nvPr/>
        </p:nvSpPr>
        <p:spPr>
          <a:xfrm>
            <a:off x="4729163" y="3450431"/>
            <a:ext cx="4014788" cy="60007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8" name="el-1783672117265-23"/>
          <p:cNvCxnSpPr/>
          <p:nvPr/>
        </p:nvCxnSpPr>
        <p:spPr>
          <a:xfrm>
            <a:off x="4743450" y="3450431"/>
            <a:ext cx="914" cy="600075"/>
          </a:xfrm>
          <a:prstGeom prst="line">
            <a:avLst/>
          </a:prstGeom>
          <a:ln w="28575" cap="flat">
            <a:solidFill>
              <a:srgbClr val="2563E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l-1783672117259-5"/>
          <p:cNvSpPr txBox="1"/>
          <p:nvPr/>
        </p:nvSpPr>
        <p:spPr>
          <a:xfrm>
            <a:off x="428625" y="139303"/>
            <a:ext cx="1389013" cy="228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50" b="1" spc="56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✦</a:t>
            </a:r>
            <a:r>
              <a:rPr sz="1010" b="1" spc="56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sz="1350" b="1" spc="56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致谢与 Q&amp;A</a:t>
            </a:r>
            <a:endParaRPr sz="1350" b="1" spc="56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3672117262-10"/>
          <p:cNvSpPr txBox="1"/>
          <p:nvPr/>
        </p:nvSpPr>
        <p:spPr>
          <a:xfrm>
            <a:off x="3621881" y="988219"/>
            <a:ext cx="2028825" cy="2619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570" b="1" spc="113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感谢指导，感谢协作</a:t>
            </a:r>
            <a:endParaRPr sz="1570" b="1" spc="113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3672117261-8"/>
          <p:cNvSpPr txBox="1"/>
          <p:nvPr/>
        </p:nvSpPr>
        <p:spPr>
          <a:xfrm>
            <a:off x="3358604" y="1293019"/>
            <a:ext cx="2455292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 </a:t>
            </a:r>
            <a:r>
              <a:rPr sz="112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老师</a:t>
            </a:r>
            <a:r>
              <a:rPr sz="112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和 </a:t>
            </a:r>
            <a:r>
              <a:rPr sz="112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助教</a:t>
            </a:r>
            <a:r>
              <a:rPr sz="112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的悉心指导与支持</a:t>
            </a:r>
            <a:endParaRPr sz="112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3672117262-9"/>
          <p:cNvSpPr txBox="1"/>
          <p:nvPr/>
        </p:nvSpPr>
        <p:spPr>
          <a:xfrm>
            <a:off x="3115196" y="1550194"/>
            <a:ext cx="2942183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 </a:t>
            </a:r>
            <a:r>
              <a:rPr sz="112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团队每一位成员</a:t>
            </a:r>
            <a:r>
              <a:rPr sz="112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的全力以赴与默契配合</a:t>
            </a:r>
            <a:endParaRPr sz="112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3672117266-29"/>
          <p:cNvSpPr txBox="1"/>
          <p:nvPr/>
        </p:nvSpPr>
        <p:spPr>
          <a:xfrm>
            <a:off x="571500" y="2107406"/>
            <a:ext cx="276523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3672117265-24"/>
          <p:cNvSpPr txBox="1"/>
          <p:nvPr/>
        </p:nvSpPr>
        <p:spPr>
          <a:xfrm>
            <a:off x="862310" y="2107406"/>
            <a:ext cx="2300288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这个功能从点击到入库走了哪几步？</a:t>
            </a:r>
            <a:endParaRPr sz="112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r>
              <a:rPr sz="112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链路追踪</a:t>
            </a:r>
            <a:endParaRPr sz="112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3672117267-30"/>
          <p:cNvSpPr txBox="1"/>
          <p:nvPr/>
        </p:nvSpPr>
        <p:spPr>
          <a:xfrm>
            <a:off x="4872038" y="2107406"/>
            <a:ext cx="276523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Q2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3672117266-25"/>
          <p:cNvSpPr txBox="1"/>
          <p:nvPr/>
        </p:nvSpPr>
        <p:spPr>
          <a:xfrm>
            <a:off x="5162848" y="2107406"/>
            <a:ext cx="2730178" cy="2143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这段 AI 写的事务 / 防并发代码，</a:t>
            </a:r>
            <a:r>
              <a:rPr sz="112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逐行讲解</a:t>
            </a:r>
            <a:endParaRPr sz="112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3672117267-31"/>
          <p:cNvSpPr txBox="1"/>
          <p:nvPr/>
        </p:nvSpPr>
        <p:spPr>
          <a:xfrm>
            <a:off x="571500" y="2821781"/>
            <a:ext cx="276523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Q3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3672117266-26"/>
          <p:cNvSpPr txBox="1"/>
          <p:nvPr/>
        </p:nvSpPr>
        <p:spPr>
          <a:xfrm>
            <a:off x="862310" y="2821781"/>
            <a:ext cx="2485132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写错过什么？怎么发现、怎么改的？</a:t>
            </a:r>
            <a:endParaRPr sz="112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r>
              <a:rPr sz="112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纠错三步法</a:t>
            </a:r>
            <a:endParaRPr sz="112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3672117267-32"/>
          <p:cNvSpPr txBox="1"/>
          <p:nvPr/>
        </p:nvSpPr>
        <p:spPr>
          <a:xfrm>
            <a:off x="4872038" y="2821781"/>
            <a:ext cx="276523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Q4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3672117266-27"/>
          <p:cNvSpPr txBox="1"/>
          <p:nvPr/>
        </p:nvSpPr>
        <p:spPr>
          <a:xfrm>
            <a:off x="5162848" y="2821781"/>
            <a:ext cx="2252737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分工怎么保证不互相覆盖？</a:t>
            </a:r>
            <a:endParaRPr sz="112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r>
              <a:rPr sz="112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契约先行 + 文件归属 + 每半天集成</a:t>
            </a:r>
            <a:endParaRPr sz="112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3672117267-33"/>
          <p:cNvSpPr txBox="1"/>
          <p:nvPr/>
        </p:nvSpPr>
        <p:spPr>
          <a:xfrm>
            <a:off x="571500" y="3536156"/>
            <a:ext cx="276523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Q5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el-1783672117266-28"/>
          <p:cNvSpPr txBox="1"/>
          <p:nvPr/>
        </p:nvSpPr>
        <p:spPr>
          <a:xfrm>
            <a:off x="862310" y="3536156"/>
            <a:ext cx="2329086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为什么用参数化 SQL？权限在哪拦？</a:t>
            </a:r>
            <a:endParaRPr sz="112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r>
              <a:rPr sz="1120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安全审查</a:t>
            </a:r>
            <a:endParaRPr sz="1120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el-1783672117267-34"/>
          <p:cNvSpPr txBox="1"/>
          <p:nvPr/>
        </p:nvSpPr>
        <p:spPr>
          <a:xfrm>
            <a:off x="4872038" y="3536156"/>
            <a:ext cx="276523" cy="2000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Q6</a:t>
            </a:r>
            <a:endParaRPr sz="112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el-1783672117267-35"/>
          <p:cNvSpPr txBox="1"/>
          <p:nvPr/>
        </p:nvSpPr>
        <p:spPr>
          <a:xfrm>
            <a:off x="5162848" y="3536156"/>
            <a:ext cx="1585913" cy="4286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80"/>
              </a:lnSpc>
            </a:pPr>
            <a:r>
              <a:rPr sz="112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多客户端并发怎么处理？</a:t>
            </a:r>
            <a:endParaRPr sz="112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680"/>
              </a:lnSpc>
            </a:pPr>
            <a:r>
              <a:rPr sz="112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粘包半包怎么规避？</a:t>
            </a:r>
            <a:endParaRPr sz="112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el-1783672117259-6"/>
          <p:cNvSpPr txBox="1"/>
          <p:nvPr/>
        </p:nvSpPr>
        <p:spPr>
          <a:xfrm>
            <a:off x="357188" y="4193381"/>
            <a:ext cx="8458200" cy="1905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spc="113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 欢迎提问 ——</a:t>
            </a:r>
            <a:endParaRPr sz="1120" spc="113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el-1783672117263-11"/>
          <p:cNvSpPr txBox="1"/>
          <p:nvPr/>
        </p:nvSpPr>
        <p:spPr>
          <a:xfrm>
            <a:off x="7501087" y="4911328"/>
            <a:ext cx="760512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28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EJP Chatroom</a:t>
            </a:r>
            <a:endParaRPr sz="780" spc="28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el-1783672117261-7"/>
          <p:cNvSpPr txBox="1"/>
          <p:nvPr/>
        </p:nvSpPr>
        <p:spPr>
          <a:xfrm>
            <a:off x="8268742" y="4911328"/>
            <a:ext cx="525214" cy="1285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780" spc="28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答辩结束</a:t>
            </a:r>
            <a:endParaRPr sz="780" spc="28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4951</Words>
  <Application>WPS 演示</Application>
  <PresentationFormat/>
  <Paragraphs>862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Consolas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兆兆</cp:lastModifiedBy>
  <cp:revision>1</cp:revision>
  <dcterms:created xsi:type="dcterms:W3CDTF">2026-07-10T08:55:51Z</dcterms:created>
  <dcterms:modified xsi:type="dcterms:W3CDTF">2026-07-10T08:55:51Z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15679C7FE12B98DD9AAD506AF51C1588_42</vt:lpwstr>
  </property>
  <property fmtid="{D5CDD505-2E9C-101B-9397-08002B2CF9AE}" pid="3" name="KSOProductBuildVer">
    <vt:lpwstr>2052-12.1.0.22175</vt:lpwstr>
  </property>
</Properties>
</file>